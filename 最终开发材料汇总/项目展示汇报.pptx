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0" r:id="rId25"/>
    <p:sldId id="281" r:id="rId26"/>
    <p:sldId id="282" r:id="rId27"/>
    <p:sldId id="283" r:id="rId28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05" d="100"/>
          <a:sy n="105" d="100"/>
        </p:scale>
        <p:origin x="802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6930897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640080" y="45720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2563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OS功能挑战赛 · proj10 · 技术汇报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82023" y="914400"/>
            <a:ext cx="786384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5400" b="1" dirty="0" err="1">
                <a:solidFill>
                  <a:srgbClr val="1A1D2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面向Rust操作系统的高效</a:t>
            </a:r>
            <a:r>
              <a:rPr lang="en-US" sz="5400" b="1" dirty="0" err="1">
                <a:solidFill>
                  <a:srgbClr val="2563E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动态调试</a:t>
            </a:r>
            <a:r>
              <a:rPr lang="en-US" sz="5400" b="1" dirty="0" err="1">
                <a:solidFill>
                  <a:srgbClr val="1A1D2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机制</a:t>
            </a:r>
            <a:endParaRPr lang="en-US" sz="5400" dirty="0"/>
          </a:p>
        </p:txBody>
      </p:sp>
      <p:sp>
        <p:nvSpPr>
          <p:cNvPr id="6" name="Text 4"/>
          <p:cNvSpPr/>
          <p:nvPr/>
        </p:nvSpPr>
        <p:spPr>
          <a:xfrm>
            <a:off x="582023" y="283464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3A4250"/>
                </a:solidFill>
              </a:rPr>
              <a:t>—— 基于 Asterinas 的设计与实现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40080" y="411480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队伍：</a:t>
            </a:r>
            <a:r>
              <a:rPr lang="en-US" sz="1200" b="1" dirty="0">
                <a:solidFill>
                  <a:srgbClr val="3A42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儒雅的读书人</a:t>
            </a:r>
            <a:r>
              <a:rPr lang="en-US" sz="12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成员：</a:t>
            </a:r>
            <a:r>
              <a:rPr lang="en-US" sz="1200" b="1" dirty="0">
                <a:solidFill>
                  <a:srgbClr val="3A42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林辉</a:t>
            </a:r>
            <a:r>
              <a:rPr lang="en-US" sz="12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学校：</a:t>
            </a:r>
            <a:r>
              <a:rPr lang="en-US" sz="1200" b="1" dirty="0">
                <a:solidFill>
                  <a:srgbClr val="3A42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厦门大学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40080" y="470916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#rust #kernel #dynamic-debug #asterinas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 / 28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2563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agenda.md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" y="594360"/>
            <a:ext cx="78638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A1D2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汇报提纲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640080" y="1417320"/>
            <a:ext cx="7863840" cy="338328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14400" y="1600200"/>
            <a:ext cx="411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563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371600" y="160020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A1D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项目概述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5029200" y="160020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背景 · 目标 · 意义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914400" y="2039112"/>
            <a:ext cx="7315200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dash"/>
          </a:ln>
        </p:spPr>
      </p:sp>
      <p:sp>
        <p:nvSpPr>
          <p:cNvPr id="9" name="Text 7"/>
          <p:cNvSpPr/>
          <p:nvPr/>
        </p:nvSpPr>
        <p:spPr>
          <a:xfrm>
            <a:off x="914400" y="2130552"/>
            <a:ext cx="411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563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371600" y="2130552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A1D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队员分工与开发计划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5029200" y="2130552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工作分布 · 时间线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914400" y="2569464"/>
            <a:ext cx="7315200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dash"/>
          </a:ln>
        </p:spPr>
      </p:sp>
      <p:sp>
        <p:nvSpPr>
          <p:cNvPr id="13" name="Text 11"/>
          <p:cNvSpPr/>
          <p:nvPr/>
        </p:nvSpPr>
        <p:spPr>
          <a:xfrm>
            <a:off x="914400" y="2660904"/>
            <a:ext cx="411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563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371600" y="2660904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A1D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系统架构设计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5029200" y="2660904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五层分层 · 双后端宏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914400" y="3099816"/>
            <a:ext cx="7315200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914400" y="3191256"/>
            <a:ext cx="411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563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371600" y="3191256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A1D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核心功能实现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5029200" y="3191256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procfs · 过滤引擎 · 指令修补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914400" y="3630168"/>
            <a:ext cx="7315200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914400" y="3721608"/>
            <a:ext cx="411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563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371600" y="3721608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A1D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测试结果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5029200" y="3721608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性能 · 正确性 · 增量优化 · 并发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914400" y="4160520"/>
            <a:ext cx="7315200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914400" y="4251960"/>
            <a:ext cx="411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563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1371600" y="425196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A1D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创新点与总结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5029200" y="425196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对比分析 · 未来展望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 / 28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0" y="914400"/>
            <a:ext cx="3657600" cy="3291840"/>
          </a:xfrm>
          <a:prstGeom prst="rect">
            <a:avLst/>
          </a:prstGeom>
          <a:solidFill>
            <a:srgbClr val="2563EB">
              <a:alpha val="6000"/>
            </a:srgbClr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137160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kern="0" spc="600" dirty="0">
                <a:solidFill>
                  <a:srgbClr val="2563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PART 01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7863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400" b="1" dirty="0">
                <a:solidFill>
                  <a:srgbClr val="2563E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项目概述</a:t>
            </a:r>
            <a:endParaRPr lang="en-US" sz="5400" dirty="0"/>
          </a:p>
        </p:txBody>
      </p:sp>
      <p:sp>
        <p:nvSpPr>
          <p:cNvPr id="5" name="Shape 3"/>
          <p:cNvSpPr/>
          <p:nvPr/>
        </p:nvSpPr>
        <p:spPr>
          <a:xfrm>
            <a:off x="3840480" y="2834640"/>
            <a:ext cx="1463040" cy="0"/>
          </a:xfrm>
          <a:prstGeom prst="line">
            <a:avLst/>
          </a:prstGeom>
          <a:noFill/>
          <a:ln w="38100">
            <a:solidFill>
              <a:srgbClr val="2563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371600" y="310896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3A4250"/>
                </a:solidFill>
              </a:rPr>
              <a:t>背景 · 目标 · 意义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2563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problem &amp; mission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" y="594360"/>
            <a:ext cx="78638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A1D2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项目背景与目标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640080" y="1463040"/>
            <a:ext cx="2514600" cy="301752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9224" y="1463040"/>
            <a:ext cx="2496312" cy="36576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1645920"/>
            <a:ext cx="2148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D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核心问题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22960" y="2148840"/>
            <a:ext cx="214884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60000"/>
              </a:lnSpc>
              <a:buNone/>
            </a:pPr>
            <a:r>
              <a:rPr lang="en-US" sz="1200" dirty="0">
                <a:solidFill>
                  <a:srgbClr val="3A4250"/>
                </a:solidFill>
              </a:rPr>
              <a:t>星签OS日志系统依赖编译期全局开关，调试日志开启后各模块输出混杂，开发者难以在海量信息中定位特定问题，严重制约开发迭代效率。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337560" y="1463040"/>
            <a:ext cx="2514600" cy="301752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346704" y="1463040"/>
            <a:ext cx="2496312" cy="36576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520440" y="1645920"/>
            <a:ext cx="2148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D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赛题任务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3520440" y="2148840"/>
            <a:ext cx="214884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60000"/>
              </a:lnSpc>
              <a:buNone/>
            </a:pPr>
            <a:r>
              <a:rPr lang="en-US" sz="1200" dirty="0">
                <a:solidFill>
                  <a:srgbClr val="3A4250"/>
                </a:solidFill>
              </a:rPr>
              <a:t>仿照Linux Dynamic Debug原理，实现适应Rust语言特性的运行时动态日志过滤系统。技术指标：功能完整性、正确性、性能保障（禁用态零开销）、鲁棒性。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035040" y="1463040"/>
            <a:ext cx="2514600" cy="301752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044184" y="1463040"/>
            <a:ext cx="2496312" cy="36576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217920" y="1645920"/>
            <a:ext cx="2148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D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项目意义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217920" y="2148840"/>
            <a:ext cx="214884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60000"/>
              </a:lnSpc>
              <a:buNone/>
            </a:pPr>
            <a:r>
              <a:rPr lang="en-US" sz="1200" dirty="0">
                <a:solidFill>
                  <a:srgbClr val="3A4250"/>
                </a:solidFill>
              </a:rPr>
              <a:t>验证Rust安全约束下能否设计出与Linux同级性能的零开销动态调试系统，为Rust系统软件应对底层性能挑战提供实践案例。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 / 28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2563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goals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" y="594360"/>
            <a:ext cx="78638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A1D2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四大项目目标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640080" y="1417320"/>
            <a:ext cx="7863840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417320"/>
            <a:ext cx="45720" cy="74980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146304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①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325880" y="1463040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A1D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功能完整性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1325880" y="1737360"/>
            <a:ext cx="6858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A4250"/>
                </a:solidFill>
              </a:rPr>
              <a:t>四维选择器（file/module/func/line）+ last-match-wins规则链 + 运行中动态增删规则，覆盖Linux dyndbg核心语义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40080" y="2286000"/>
            <a:ext cx="7863840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40080" y="2286000"/>
            <a:ext cx="45720" cy="74980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400" y="23317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②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325880" y="2331720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A1D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性能零开销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1325880" y="2606040"/>
            <a:ext cx="6858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A4250"/>
                </a:solidFill>
              </a:rPr>
              <a:t>禁用态下CPU执行NOP5穿透，与完全不存在调试代码的基线构建无统计学显著差异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40080" y="3154680"/>
            <a:ext cx="7863840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40080" y="3154680"/>
            <a:ext cx="45720" cy="74980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14400" y="32004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③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325880" y="3200400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A1D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编译期最大化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1325880" y="3474720"/>
            <a:ext cx="6858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A4250"/>
                </a:solidFill>
              </a:rPr>
              <a:t>linkme分布式切片 + 启动时一次性构建索引，运行时零动态分配，启动后零模块注册开销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40080" y="4023360"/>
            <a:ext cx="7863840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40080" y="4023360"/>
            <a:ext cx="45720" cy="74980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14400" y="406908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④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325880" y="4069080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A1D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SMP并发安全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1325880" y="4343400"/>
            <a:ext cx="6858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A4250"/>
                </a:solidFill>
              </a:rPr>
              <a:t>自研PatchRendezvous IPI协议 + 模块级批量修补事务，三类并发测试全部通过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 / 28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03086" y="914400"/>
            <a:ext cx="7126514" cy="3468914"/>
          </a:xfrm>
          <a:prstGeom prst="rect">
            <a:avLst/>
          </a:prstGeom>
          <a:solidFill>
            <a:srgbClr val="2563EB">
              <a:alpha val="6000"/>
            </a:srgbClr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137160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kern="0" spc="600" dirty="0">
                <a:solidFill>
                  <a:srgbClr val="2563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PART 02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7863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400" b="1" dirty="0">
                <a:solidFill>
                  <a:srgbClr val="2563E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队员分工与开发计划</a:t>
            </a:r>
            <a:endParaRPr lang="en-US" sz="5400" dirty="0"/>
          </a:p>
        </p:txBody>
      </p:sp>
      <p:sp>
        <p:nvSpPr>
          <p:cNvPr id="5" name="Shape 3"/>
          <p:cNvSpPr/>
          <p:nvPr/>
        </p:nvSpPr>
        <p:spPr>
          <a:xfrm>
            <a:off x="3840480" y="2834640"/>
            <a:ext cx="1463040" cy="0"/>
          </a:xfrm>
          <a:prstGeom prst="line">
            <a:avLst/>
          </a:prstGeom>
          <a:noFill/>
          <a:ln w="38100">
            <a:solidFill>
              <a:srgbClr val="2563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371600" y="310896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3A4250"/>
                </a:solidFill>
              </a:rPr>
              <a:t>工作分布 · 时间线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2563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team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" y="594360"/>
            <a:ext cx="78638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A1D2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队员分工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640080" y="1463040"/>
            <a:ext cx="2514600" cy="320040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9224" y="1463040"/>
            <a:ext cx="2496312" cy="36576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1600200"/>
            <a:ext cx="2148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D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👥 队伍信息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22960" y="2057400"/>
            <a:ext cx="2148840" cy="2423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3A42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队伍：儒雅的读书人</a:t>
            </a:r>
            <a:endParaRPr lang="en-US" sz="11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3A42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赛题：proj10</a:t>
            </a:r>
            <a:endParaRPr lang="en-US" sz="11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3A42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成员：林辉</a:t>
            </a:r>
            <a:endParaRPr lang="en-US" sz="11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3A42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学校：厦门大学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337560" y="1463040"/>
            <a:ext cx="2514600" cy="320040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346704" y="1463040"/>
            <a:ext cx="2496312" cy="36576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520440" y="1600200"/>
            <a:ext cx="2148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D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🛠 承担工作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3520440" y="2057400"/>
            <a:ext cx="2148840" cy="2423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3A42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系统架构设计与技术调研</a:t>
            </a:r>
            <a:endParaRPr lang="en-US" sz="11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3A42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全部代码实现（~1500行核心）</a:t>
            </a:r>
            <a:endParaRPr lang="en-US" sz="11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3A42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10个shell测试套件设计执行</a:t>
            </a:r>
            <a:endParaRPr lang="en-US" sz="11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3A42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57页开发文档撰写</a:t>
            </a:r>
            <a:endParaRPr lang="en-US" sz="11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3A42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架构图/流程图制作</a:t>
            </a:r>
            <a:endParaRPr lang="en-US" sz="11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3A42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PPT与演示视频准备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035040" y="1463040"/>
            <a:ext cx="2514600" cy="320040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044184" y="1463040"/>
            <a:ext cx="2496312" cy="36576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217920" y="1600200"/>
            <a:ext cx="2148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D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📁 代码分布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217920" y="2057400"/>
            <a:ext cx="2148840" cy="2423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900" dirty="0">
                <a:solidFill>
                  <a:srgbClr val="2563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kernel/comps/logger/src/</a:t>
            </a:r>
            <a:endParaRPr lang="en-US" sz="9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3A42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aster_logger.rs 核心~1500行</a:t>
            </a:r>
            <a:endParaRPr lang="en-US" sz="9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2563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kernel/.../procfs/sys/kernel/</a:t>
            </a:r>
            <a:endParaRPr lang="en-US" sz="9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3A42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dynamic_debug.rs, dyndbg_bench.rs,</a:t>
            </a:r>
            <a:endParaRPr lang="en-US" sz="9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2563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dyndbg_stats.rs 用户接口</a:t>
            </a:r>
            <a:endParaRPr lang="en-US" sz="9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3A42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tools/dyndbg/</a:t>
            </a:r>
            <a:endParaRPr lang="en-US" sz="9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2563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10个测试脚本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 / 28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2563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timeline · core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" y="594360"/>
            <a:ext cx="78638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A1D2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开发时间线：核心实现阶段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822960" y="2286000"/>
            <a:ext cx="7498080" cy="0"/>
          </a:xfrm>
          <a:prstGeom prst="line">
            <a:avLst/>
          </a:prstGeom>
          <a:noFill/>
          <a:ln w="19050">
            <a:solidFill>
              <a:srgbClr val="E0E0E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37160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Week 1 · 04.05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1645920" y="2176272"/>
            <a:ext cx="201168" cy="201168"/>
          </a:xfrm>
          <a:prstGeom prst="ellipse">
            <a:avLst/>
          </a:prstGeom>
          <a:solidFill>
            <a:srgbClr val="2563EB"/>
          </a:solidFill>
          <a:ln w="38100">
            <a:solidFill>
              <a:srgbClr val="F8FAF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256032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A1D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基础架构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0080" y="2926080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40000"/>
              </a:lnSpc>
              <a:buNone/>
            </a:pPr>
            <a:r>
              <a:rPr lang="en-US" sz="1000" dirty="0">
                <a:solidFill>
                  <a:srgbClr val="3A4250"/>
                </a:solidFill>
              </a:rPr>
              <a:t>描述符 + 全局规则 + procfs读写接口搭建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2468880" y="137160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Week 2 · 04.06–11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657600" y="2176272"/>
            <a:ext cx="201168" cy="201168"/>
          </a:xfrm>
          <a:prstGeom prst="ellipse">
            <a:avLst/>
          </a:prstGeom>
          <a:solidFill>
            <a:srgbClr val="2563EB"/>
          </a:solidFill>
          <a:ln w="38100">
            <a:solidFill>
              <a:srgbClr val="F8FAF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651760" y="256032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A1D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索引与规则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2651760" y="2926080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40000"/>
              </a:lnSpc>
              <a:buNone/>
            </a:pPr>
            <a:r>
              <a:rPr lang="en-US" sz="1000" dirty="0">
                <a:solidFill>
                  <a:srgbClr val="3A4250"/>
                </a:solidFill>
              </a:rPr>
              <a:t>四维BTreeMap索引 + last-match-wins + 增量重算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480560" y="137160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Week 3 · 04.13–19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5669280" y="2176272"/>
            <a:ext cx="201168" cy="201168"/>
          </a:xfrm>
          <a:prstGeom prst="ellipse">
            <a:avLst/>
          </a:prstGeom>
          <a:solidFill>
            <a:srgbClr val="2563EB"/>
          </a:solidFill>
          <a:ln w="38100">
            <a:solidFill>
              <a:srgbClr val="F8FAF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663440" y="256032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A1D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静态注册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663440" y="2926080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40000"/>
              </a:lnSpc>
              <a:buNone/>
            </a:pPr>
            <a:r>
              <a:rPr lang="en-US" sz="1000" dirty="0">
                <a:solidFill>
                  <a:srgbClr val="3A4250"/>
                </a:solidFill>
              </a:rPr>
              <a:t>linkme分布式切片 + 内核debug宏迁移至双后端宏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492240" y="137160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Week 4 · 04.28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7680960" y="2176272"/>
            <a:ext cx="201168" cy="201168"/>
          </a:xfrm>
          <a:prstGeom prst="ellipse">
            <a:avLst/>
          </a:prstGeom>
          <a:solidFill>
            <a:srgbClr val="2563EB"/>
          </a:solidFill>
          <a:ln w="38100">
            <a:solidFill>
              <a:srgbClr val="F8FAF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675120" y="256032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A1D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指令修补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675120" y="2926080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40000"/>
              </a:lnSpc>
              <a:buNone/>
            </a:pPr>
            <a:r>
              <a:rPr lang="en-US" sz="1000" dirty="0">
                <a:solidFill>
                  <a:srgbClr val="3A4250"/>
                </a:solidFill>
              </a:rPr>
              <a:t>NOP5↔JMP指令槽 + 模块门控AtomicU32计数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40080" y="393192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A4250"/>
                </a:solidFill>
              </a:rPr>
              <a:t>核心实现阶段聚焦于</a:t>
            </a:r>
            <a:r>
              <a:rPr lang="en-US" sz="1300" b="1" dirty="0">
                <a:solidFill>
                  <a:srgbClr val="2563EB"/>
                </a:solidFill>
              </a:rPr>
              <a:t>功能完整性</a:t>
            </a:r>
            <a:r>
              <a:rPr lang="en-US" sz="1300" dirty="0">
                <a:solidFill>
                  <a:srgbClr val="3A4250"/>
                </a:solidFill>
              </a:rPr>
              <a:t>——四层技术栈（宏→注册→过滤→修补）在四周内搭建完成。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 / 28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2563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timeline · optimization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" y="594360"/>
            <a:ext cx="78638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A1D2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开发时间线：优化与测试阶段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640080" y="1463040"/>
            <a:ext cx="3931920" cy="155448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9224" y="1463040"/>
            <a:ext cx="3913632" cy="36576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1600200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D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5–6 · 性能优化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383280" y="1627632"/>
            <a:ext cx="1284732" cy="228600"/>
          </a:xfrm>
          <a:prstGeom prst="rect">
            <a:avLst/>
          </a:prstGeom>
          <a:solidFill>
            <a:srgbClr val="F0F3F6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383280" y="1627632"/>
            <a:ext cx="12847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05.17 – 05.18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822960" y="2011680"/>
            <a:ext cx="35661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3A4250"/>
                </a:solidFill>
              </a:rPr>
              <a:t>PatchRendezvous三阶段IPI协议；批量修补事务优化；模块修补次数大幅降低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800600" y="1463040"/>
            <a:ext cx="3931920" cy="155448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809744" y="1463040"/>
            <a:ext cx="3913632" cy="36576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983480" y="1600200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D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7 · 测试框架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543800" y="1627632"/>
            <a:ext cx="662940" cy="228600"/>
          </a:xfrm>
          <a:prstGeom prst="rect">
            <a:avLst/>
          </a:prstGeom>
          <a:solidFill>
            <a:srgbClr val="F0F3F6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543800" y="1627632"/>
            <a:ext cx="6629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05.25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4983480" y="2011680"/>
            <a:ext cx="35661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3A4250"/>
                </a:solidFill>
              </a:rPr>
              <a:t>10个测试脚本开发：功能正确性8用例、微基准+workload、索引消融、批量修补、并发/压力测试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40080" y="3154680"/>
            <a:ext cx="3931920" cy="155448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49224" y="3154680"/>
            <a:ext cx="3913632" cy="36576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2960" y="3291840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D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8–10 · 测试完善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3383280" y="3319272"/>
            <a:ext cx="1284732" cy="228600"/>
          </a:xfrm>
          <a:prstGeom prst="rect">
            <a:avLst/>
          </a:prstGeom>
          <a:solidFill>
            <a:srgbClr val="F0F3F6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383280" y="3319272"/>
            <a:ext cx="12847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06.01 – 06.10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822960" y="3703320"/>
            <a:ext cx="35661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3A4250"/>
                </a:solidFill>
              </a:rPr>
              <a:t>索引消融实验完善；延迟索引优化；collect_results收集框架；全部结果CSV持久化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800600" y="3154680"/>
            <a:ext cx="3931920" cy="155448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809744" y="3154680"/>
            <a:ext cx="3913632" cy="36576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983480" y="3291840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D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11 · 文档收尾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7543800" y="3319272"/>
            <a:ext cx="1284732" cy="228600"/>
          </a:xfrm>
          <a:prstGeom prst="rect">
            <a:avLst/>
          </a:prstGeom>
          <a:solidFill>
            <a:srgbClr val="F0F3F6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543800" y="3319272"/>
            <a:ext cx="12847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06.15 – 06.21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4983480" y="3703320"/>
            <a:ext cx="35661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3A4250"/>
                </a:solidFill>
              </a:rPr>
              <a:t>57页开发文档撰写；架构图/流程图制作；PPT与演示视频准备；代码清理与检查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 / 28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719943" y="914400"/>
            <a:ext cx="5754914" cy="3291840"/>
          </a:xfrm>
          <a:prstGeom prst="rect">
            <a:avLst/>
          </a:prstGeom>
          <a:solidFill>
            <a:srgbClr val="2563EB">
              <a:alpha val="6000"/>
            </a:srgbClr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137160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kern="0" spc="600" dirty="0">
                <a:solidFill>
                  <a:srgbClr val="2563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PART 03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7863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400" b="1" dirty="0">
                <a:solidFill>
                  <a:srgbClr val="2563E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系统架构设计</a:t>
            </a:r>
            <a:endParaRPr lang="en-US" sz="5400" dirty="0"/>
          </a:p>
        </p:txBody>
      </p:sp>
      <p:sp>
        <p:nvSpPr>
          <p:cNvPr id="5" name="Shape 3"/>
          <p:cNvSpPr/>
          <p:nvPr/>
        </p:nvSpPr>
        <p:spPr>
          <a:xfrm>
            <a:off x="3840480" y="2834640"/>
            <a:ext cx="1463040" cy="0"/>
          </a:xfrm>
          <a:prstGeom prst="line">
            <a:avLst/>
          </a:prstGeom>
          <a:noFill/>
          <a:ln w="38100">
            <a:solidFill>
              <a:srgbClr val="2563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371600" y="310896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3A4250"/>
                </a:solidFill>
              </a:rPr>
              <a:t>五层分层 · 双后端宏 · 编译时与运行时交互</a:t>
            </a:r>
            <a:endParaRPr lang="en-US" sz="1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2563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architecture · 5-layer stack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" y="594360"/>
            <a:ext cx="620649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1D2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五层分层架构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097280"/>
            <a:ext cx="1280160" cy="868680"/>
          </a:xfrm>
          <a:prstGeom prst="rect">
            <a:avLst/>
          </a:prstGeom>
          <a:solidFill>
            <a:srgbClr val="2563EB">
              <a:alpha val="8000"/>
            </a:srgbClr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097280"/>
            <a:ext cx="12801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000" b="1" dirty="0">
                <a:solidFill>
                  <a:srgbClr val="3A42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第1层</a:t>
            </a:r>
            <a:endParaRPr lang="en-US" sz="10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000" b="1" dirty="0">
                <a:solidFill>
                  <a:srgbClr val="3A42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用户接口层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2057400" y="1097280"/>
            <a:ext cx="199644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057400" y="1097280"/>
            <a:ext cx="1996440" cy="3200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148840" y="1207008"/>
            <a:ext cx="1813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1D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dynamic_debug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148840" y="1554480"/>
            <a:ext cx="1813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7280"/>
                </a:solidFill>
              </a:rPr>
              <a:t>规则管理·读写即操作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145280" y="1097280"/>
            <a:ext cx="199644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145280" y="1097280"/>
            <a:ext cx="1996440" cy="3200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236720" y="1207008"/>
            <a:ext cx="1813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1D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dyndbg_stats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236720" y="1554480"/>
            <a:ext cx="1813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7280"/>
                </a:solidFill>
              </a:rPr>
              <a:t>5个AtomicU64统计计数器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6233160" y="1097280"/>
            <a:ext cx="199644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233160" y="1097280"/>
            <a:ext cx="1996440" cy="3200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324600" y="1207008"/>
            <a:ext cx="1813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1D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dyndbg_bench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324600" y="1554480"/>
            <a:ext cx="1813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7280"/>
                </a:solidFill>
              </a:rPr>
              <a:t>TSC精确计时·消融实验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640080" y="2084832"/>
            <a:ext cx="1280160" cy="868680"/>
          </a:xfrm>
          <a:prstGeom prst="rect">
            <a:avLst/>
          </a:prstGeom>
          <a:solidFill>
            <a:srgbClr val="F0F3F6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0080" y="2084832"/>
            <a:ext cx="12801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000" b="1" dirty="0">
                <a:solidFill>
                  <a:srgbClr val="3A42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第2层</a:t>
            </a:r>
            <a:endParaRPr lang="en-US" sz="10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000" b="1" dirty="0">
                <a:solidFill>
                  <a:srgbClr val="3A42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运行时过滤引擎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2057400" y="2084832"/>
            <a:ext cx="147447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2148840" y="2194560"/>
            <a:ext cx="129159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1D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四维BTreeMap索引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2148840" y="2542032"/>
            <a:ext cx="129159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7280"/>
                </a:solidFill>
              </a:rPr>
              <a:t>file/module/func/line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3623310" y="2084832"/>
            <a:ext cx="147447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3714750" y="2194560"/>
            <a:ext cx="129159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1D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Last-Match-Wins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3714750" y="2542032"/>
            <a:ext cx="129159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7280"/>
                </a:solidFill>
              </a:rPr>
              <a:t>规则链冲突语义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5189220" y="2084832"/>
            <a:ext cx="147447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280660" y="2194560"/>
            <a:ext cx="129159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1D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增量重算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280660" y="2542032"/>
            <a:ext cx="129159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7280"/>
                </a:solidFill>
              </a:rPr>
              <a:t>仅受影响子集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6755130" y="2084832"/>
            <a:ext cx="147447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6846570" y="2194560"/>
            <a:ext cx="129159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1D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模块门控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846570" y="2542032"/>
            <a:ext cx="129159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7280"/>
                </a:solidFill>
              </a:rPr>
              <a:t>AtomicU32 0↔1翻转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640080" y="3072384"/>
            <a:ext cx="1280160" cy="868680"/>
          </a:xfrm>
          <a:prstGeom prst="rect">
            <a:avLst/>
          </a:prstGeom>
          <a:solidFill>
            <a:srgbClr val="F0F3F6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40080" y="3072384"/>
            <a:ext cx="12801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000" b="1" dirty="0">
                <a:solidFill>
                  <a:srgbClr val="3A42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第3层</a:t>
            </a:r>
            <a:endParaRPr lang="en-US" sz="10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000" b="1" dirty="0">
                <a:solidFill>
                  <a:srgbClr val="3A42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静态指令修补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2057400" y="3072384"/>
            <a:ext cx="147447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2148840" y="3182112"/>
            <a:ext cx="129159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1D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NOP5↔JMP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2148840" y="3529584"/>
            <a:ext cx="129159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7280"/>
                </a:solidFill>
              </a:rPr>
              <a:t>5字节指令槽机制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3623310" y="3072384"/>
            <a:ext cx="147447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8" name="Text 36"/>
          <p:cNvSpPr/>
          <p:nvPr/>
        </p:nvSpPr>
        <p:spPr>
          <a:xfrm>
            <a:off x="3714750" y="3182112"/>
            <a:ext cx="129159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1D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PatchRendezvous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3714750" y="3529584"/>
            <a:ext cx="129159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7280"/>
                </a:solidFill>
              </a:rPr>
              <a:t>SMP安全IPI协议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5189220" y="3072384"/>
            <a:ext cx="147447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41" name="Text 39"/>
          <p:cNvSpPr/>
          <p:nvPr/>
        </p:nvSpPr>
        <p:spPr>
          <a:xfrm>
            <a:off x="5280660" y="3182112"/>
            <a:ext cx="129159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1D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批量修补事务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5280660" y="3529584"/>
            <a:ext cx="129159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7280"/>
                </a:solidFill>
              </a:rPr>
              <a:t>模块级聚合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6755130" y="3072384"/>
            <a:ext cx="147447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44" name="Text 42"/>
          <p:cNvSpPr/>
          <p:nvPr/>
        </p:nvSpPr>
        <p:spPr>
          <a:xfrm>
            <a:off x="6846570" y="3182112"/>
            <a:ext cx="129159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1D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CR0.WP + SeqCst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6846570" y="3529584"/>
            <a:ext cx="129159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7280"/>
                </a:solidFill>
              </a:rPr>
              <a:t>写保护+流水线序列化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640080" y="4059936"/>
            <a:ext cx="1280160" cy="868680"/>
          </a:xfrm>
          <a:prstGeom prst="rect">
            <a:avLst/>
          </a:prstGeom>
          <a:solidFill>
            <a:srgbClr val="F0F3F6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40080" y="4059936"/>
            <a:ext cx="12801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000" b="1" dirty="0">
                <a:solidFill>
                  <a:srgbClr val="3A42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第4–5层</a:t>
            </a:r>
            <a:endParaRPr lang="en-US" sz="10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000" b="1" dirty="0">
                <a:solidFill>
                  <a:srgbClr val="3A42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编译期基础设施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2057400" y="4059936"/>
            <a:ext cx="304038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49" name="Text 47"/>
          <p:cNvSpPr/>
          <p:nvPr/>
        </p:nvSpPr>
        <p:spPr>
          <a:xfrm>
            <a:off x="2148840" y="4169664"/>
            <a:ext cx="28575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1D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linkme分布式切片</a:t>
            </a:r>
            <a:endParaRPr lang="en-US" sz="1100" dirty="0"/>
          </a:p>
        </p:txBody>
      </p:sp>
      <p:sp>
        <p:nvSpPr>
          <p:cNvPr id="50" name="Text 48"/>
          <p:cNvSpPr/>
          <p:nvPr/>
        </p:nvSpPr>
        <p:spPr>
          <a:xfrm>
            <a:off x="2148840" y="4517136"/>
            <a:ext cx="28575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7280"/>
                </a:solidFill>
              </a:rPr>
              <a:t>跨编译单元静态聚合·类型安全注册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5189220" y="4059936"/>
            <a:ext cx="304038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2" name="Text 50"/>
          <p:cNvSpPr/>
          <p:nvPr/>
        </p:nvSpPr>
        <p:spPr>
          <a:xfrm>
            <a:off x="5280660" y="4169664"/>
            <a:ext cx="28575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1D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dyndbg_debug!双后端宏</a:t>
            </a:r>
            <a:endParaRPr lang="en-US" sz="1100" dirty="0"/>
          </a:p>
        </p:txBody>
      </p:sp>
      <p:sp>
        <p:nvSpPr>
          <p:cNvPr id="53" name="Text 51"/>
          <p:cNvSpPr/>
          <p:nvPr/>
        </p:nvSpPr>
        <p:spPr>
          <a:xfrm>
            <a:off x="5280660" y="4517136"/>
            <a:ext cx="28575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7280"/>
                </a:solidFill>
              </a:rPr>
              <a:t>static NOP5修补·branchdbg分支判断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 / 28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2563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macro system · dual backend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" y="594360"/>
            <a:ext cx="78638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A1D2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双后端宏系统设计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640080" y="1371600"/>
            <a:ext cx="7863840" cy="256032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1508760"/>
          <a:ext cx="7498080" cy="2011680"/>
        </p:xfrm>
        <a:graphic>
          <a:graphicData uri="http://schemas.openxmlformats.org/drawingml/2006/table">
            <a:tbl>
              <a:tblPr/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6B728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维度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6B728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static 后端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6B728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branchdbg 后端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6B728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no-op 剥离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</a:rPr>
                        <a:t>Cargo Feature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6A34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dyndbg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F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D9770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branchdbg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无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</a:rPr>
                        <a:t>热路径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NOP5静态修补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if dyndbg_should_log()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空内联汇编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</a:rPr>
                        <a:t>x86_64 机制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5字节槽 + JMP rel32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模块门控 + AtomicBool读取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编译器完全剥离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</a:rPr>
                        <a:t>非x86 行为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退化到分支判断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保留全部过滤功能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不受架构影响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13 / 28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661886" y="914400"/>
            <a:ext cx="6110514" cy="3291840"/>
          </a:xfrm>
          <a:prstGeom prst="rect">
            <a:avLst/>
          </a:prstGeom>
          <a:solidFill>
            <a:srgbClr val="2563EB">
              <a:alpha val="6000"/>
            </a:srgbClr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137160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kern="0" spc="600" dirty="0">
                <a:solidFill>
                  <a:srgbClr val="2563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PART 04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7863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400" b="1" dirty="0">
                <a:solidFill>
                  <a:srgbClr val="2563E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核心功能实现</a:t>
            </a:r>
            <a:endParaRPr lang="en-US" sz="5400" dirty="0"/>
          </a:p>
        </p:txBody>
      </p:sp>
      <p:sp>
        <p:nvSpPr>
          <p:cNvPr id="5" name="Shape 3"/>
          <p:cNvSpPr/>
          <p:nvPr/>
        </p:nvSpPr>
        <p:spPr>
          <a:xfrm>
            <a:off x="3840480" y="2834640"/>
            <a:ext cx="1463040" cy="0"/>
          </a:xfrm>
          <a:prstGeom prst="line">
            <a:avLst/>
          </a:prstGeom>
          <a:noFill/>
          <a:ln w="38100">
            <a:solidFill>
              <a:srgbClr val="2563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371600" y="310896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3A4250"/>
                </a:solidFill>
              </a:rPr>
              <a:t>用户接口 · 过滤引擎 · 指令修补</a:t>
            </a:r>
            <a:endParaRPr lang="en-US" sz="16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2563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interface · procfs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" y="594360"/>
            <a:ext cx="78638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A1D2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用户接口：procfs规则管理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640080" y="1371600"/>
            <a:ext cx="1965960" cy="310896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376172" y="1554480"/>
            <a:ext cx="493776" cy="493776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376172" y="1554480"/>
            <a:ext cx="493776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77240" y="2194560"/>
            <a:ext cx="1691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A1D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规则语法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77240" y="2651760"/>
            <a:ext cx="169164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100" dirty="0">
                <a:solidFill>
                  <a:srgbClr val="3A42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echo "module=ext2 file=inode.rs func=read +p" &gt; /proc/.../dynamic_debug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788920" y="1371600"/>
            <a:ext cx="1965960" cy="310896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525012" y="1554480"/>
            <a:ext cx="493776" cy="493776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525012" y="1554480"/>
            <a:ext cx="493776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2926080" y="2194560"/>
            <a:ext cx="1691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A1D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三类命令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2926080" y="2651760"/>
            <a:ext cx="169164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100" dirty="0">
                <a:solidFill>
                  <a:srgbClr val="3A42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&lt;selectors&gt; +p|-p（追加）、del &lt;id&gt;（删除）、clear（清空全部）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937760" y="1371600"/>
            <a:ext cx="1965960" cy="310896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673852" y="1554480"/>
            <a:ext cx="493776" cy="493776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673852" y="1554480"/>
            <a:ext cx="493776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5074920" y="2194560"/>
            <a:ext cx="1691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A1D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四维选择器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5074920" y="2651760"/>
            <a:ext cx="169164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100" dirty="0">
                <a:solidFill>
                  <a:srgbClr val="3A42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file=&lt;kw&gt; module=&lt;kw&gt; func=&lt;kw&gt; line=&lt;n&gt;，子串匹配 + AND语义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7086600" y="1371600"/>
            <a:ext cx="1965960" cy="310896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7822692" y="1554480"/>
            <a:ext cx="493776" cy="493776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822692" y="1554480"/>
            <a:ext cx="493776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4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7223760" y="2194560"/>
            <a:ext cx="1691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A1D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Last-Match-Wins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7223760" y="2651760"/>
            <a:ext cx="169164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100" dirty="0">
                <a:solidFill>
                  <a:srgbClr val="3A42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追加规则即覆盖旧决策，无需删除旧规则，支持粗→细粒度收敛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15 / 28</a:t>
            </a:r>
            <a:endParaRPr lang="en-US" sz="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2563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engine · filtering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" y="594360"/>
            <a:ext cx="78638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A1D2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运行时过滤引擎设计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640080" y="1325880"/>
            <a:ext cx="3931920" cy="137160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9224" y="1325880"/>
            <a:ext cx="3913632" cy="36576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1435608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D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索引加速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22960" y="1801368"/>
            <a:ext cx="3566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3A4250"/>
                </a:solidFill>
              </a:rPr>
              <a:t>四棵BTreeMap索引；候选收集O(k)而非O(n)；file选择器显著加速；line选择器O(log N)精确查找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800600" y="1325880"/>
            <a:ext cx="3931920" cy="137160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809744" y="1325880"/>
            <a:ext cx="3913632" cy="36576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983480" y="1435608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 err="1">
                <a:solidFill>
                  <a:srgbClr val="1A1D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增量重算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983480" y="1801368"/>
            <a:ext cx="3566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3A4250"/>
                </a:solidFill>
              </a:rPr>
              <a:t>仅受影响描述符子集做规则链裁决；重算量显著降低；避免O(n·r)全量遍历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40080" y="2834640"/>
            <a:ext cx="3931920" cy="137160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49224" y="2834640"/>
            <a:ext cx="3913632" cy="36576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2960" y="2944368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D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模块门控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22960" y="3310128"/>
            <a:ext cx="3566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3A4250"/>
                </a:solidFill>
              </a:rPr>
              <a:t>AtomicU32启用计数；0↔1翻转才触发修补；模块修补次数大幅降低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800600" y="2834640"/>
            <a:ext cx="3931920" cy="137160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809744" y="2834640"/>
            <a:ext cx="3913632" cy="36576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983480" y="2944368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 err="1">
                <a:solidFill>
                  <a:srgbClr val="1A1D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复杂度保证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983480" y="3310128"/>
            <a:ext cx="3566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3A4250"/>
                </a:solidFill>
              </a:rPr>
              <a:t>热路径O(1)；候选收集O(k)；重算O(k·r)；修补O(k)；亚毫秒级规则更新延迟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40080" y="452628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参见控制路径图 (PDF) — 完整版请查看 HTML 演示文稿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16 / 28</a:t>
            </a:r>
            <a:endParaRPr lang="en-US" sz="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8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2563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patching · mechanism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" y="594360"/>
            <a:ext cx="78638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A1D2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静态指令修补：NOP5↔JMP 机制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640080" y="1325880"/>
            <a:ext cx="7863840" cy="329184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005840" y="155448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5字节指令槽规范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05840" y="2011680"/>
            <a:ext cx="338328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60000"/>
              </a:lnSpc>
              <a:buNone/>
            </a:pPr>
            <a:r>
              <a:rPr lang="en-US" sz="1200" b="1" dirty="0">
                <a:solidFill>
                  <a:srgbClr val="1A1D23"/>
                </a:solidFill>
              </a:rPr>
              <a:t>NOP5：</a:t>
            </a:r>
            <a:r>
              <a:rPr lang="en-US" sz="1200" dirty="0">
                <a:solidFill>
                  <a:srgbClr val="1A1D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0x0F 0x1F 0x44 0x00 0x00</a:t>
            </a:r>
            <a:r>
              <a:rPr lang="en-US" sz="1200" dirty="0">
                <a:solidFill>
                  <a:srgbClr val="3A4250"/>
                </a:solidFill>
              </a:rPr>
              <a:t>Intel多字节NOP，CPU前端识别为单条无操作指令高效越过</a:t>
            </a:r>
            <a:endParaRPr lang="en-US" sz="1200" dirty="0"/>
          </a:p>
          <a:p>
            <a:pPr marL="0" indent="0">
              <a:lnSpc>
                <a:spcPct val="160000"/>
              </a:lnSpc>
              <a:buNone/>
            </a:pPr>
            <a:endParaRPr lang="en-US" sz="1200" dirty="0"/>
          </a:p>
          <a:p>
            <a:pPr marL="0" indent="0">
              <a:lnSpc>
                <a:spcPct val="160000"/>
              </a:lnSpc>
              <a:buNone/>
            </a:pPr>
            <a:r>
              <a:rPr lang="en-US" sz="1200" b="1" dirty="0">
                <a:solidFill>
                  <a:srgbClr val="1A1D23"/>
                </a:solidFill>
              </a:rPr>
              <a:t>JMP rel32：</a:t>
            </a:r>
            <a:r>
              <a:rPr lang="en-US" sz="1200" dirty="0">
                <a:solidFill>
                  <a:srgbClr val="1A1D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0xE9 + 4字节相对偏移</a:t>
            </a:r>
            <a:r>
              <a:rPr lang="en-US" sz="1200" dirty="0">
                <a:solidFill>
                  <a:srgbClr val="3A4250"/>
                </a:solidFill>
              </a:rPr>
              <a:t>跳转范围±2 GiB，覆盖内核任意位置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1005840" y="4023360"/>
            <a:ext cx="2061972" cy="228600"/>
          </a:xfrm>
          <a:prstGeom prst="rect">
            <a:avLst/>
          </a:prstGeom>
          <a:solidFill>
            <a:srgbClr val="EEF0FF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05840" y="4023360"/>
            <a:ext cx="20619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2563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5字节 = x86_64单次store原子写入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4663440" y="1554480"/>
            <a:ext cx="0" cy="2743200"/>
          </a:xfrm>
          <a:prstGeom prst="line">
            <a:avLst/>
          </a:prstGeom>
          <a:noFill/>
          <a:ln w="19050">
            <a:solidFill>
              <a:srgbClr val="E0E0E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937760" y="155448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PatchRendezvous 协议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937760" y="2011680"/>
            <a:ext cx="338328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60000"/>
              </a:lnSpc>
              <a:buNone/>
            </a:pPr>
            <a:r>
              <a:rPr lang="en-US" sz="1200" b="1" dirty="0">
                <a:solidFill>
                  <a:srgbClr val="2563EB"/>
                </a:solidFill>
              </a:rPr>
              <a:t>1</a:t>
            </a:r>
            <a:r>
              <a:rPr lang="en-US" sz="1200" dirty="0">
                <a:solidFill>
                  <a:srgbClr val="1A1D23"/>
                </a:solidFill>
              </a:rPr>
              <a:t> 全局排他锁 PATCH_LOCK</a:t>
            </a:r>
            <a:endParaRPr lang="en-US" sz="1200" dirty="0"/>
          </a:p>
          <a:p>
            <a:pPr marL="0" indent="0">
              <a:lnSpc>
                <a:spcPct val="160000"/>
              </a:lnSpc>
              <a:buNone/>
            </a:pPr>
            <a:r>
              <a:rPr lang="en-US" sz="1200" b="1" dirty="0">
                <a:solidFill>
                  <a:srgbClr val="2563EB"/>
                </a:solidFill>
              </a:rPr>
              <a:t>2</a:t>
            </a:r>
            <a:r>
              <a:rPr lang="en-US" sz="1200" dirty="0">
                <a:solidFill>
                  <a:srgbClr val="1A1D23"/>
                </a:solidFill>
              </a:rPr>
              <a:t> IPI集结远程CPU旋转等待</a:t>
            </a:r>
            <a:endParaRPr lang="en-US" sz="1200" dirty="0"/>
          </a:p>
          <a:p>
            <a:pPr marL="0" indent="0">
              <a:lnSpc>
                <a:spcPct val="160000"/>
              </a:lnSpc>
              <a:buNone/>
            </a:pPr>
            <a:r>
              <a:rPr lang="en-US" sz="1200" b="1" dirty="0">
                <a:solidFill>
                  <a:srgbClr val="2563EB"/>
                </a:solidFill>
              </a:rPr>
              <a:t>3</a:t>
            </a:r>
            <a:r>
              <a:rPr lang="en-US" sz="1200" dirty="0">
                <a:solidFill>
                  <a:srgbClr val="1A1D23"/>
                </a:solidFill>
              </a:rPr>
              <a:t> 关CR0.WP + 关本地中断，批量原子写入5字节槽</a:t>
            </a:r>
            <a:endParaRPr lang="en-US" sz="1200" dirty="0"/>
          </a:p>
          <a:p>
            <a:pPr marL="0" indent="0">
              <a:lnSpc>
                <a:spcPct val="160000"/>
              </a:lnSpc>
              <a:buNone/>
            </a:pPr>
            <a:r>
              <a:rPr lang="en-US" sz="1200" b="1" dirty="0">
                <a:solidFill>
                  <a:srgbClr val="2563EB"/>
                </a:solidFill>
              </a:rPr>
              <a:t>4</a:t>
            </a:r>
            <a:r>
              <a:rPr lang="en-US" sz="1200" dirty="0">
                <a:solidFill>
                  <a:srgbClr val="1A1D23"/>
                </a:solidFill>
              </a:rPr>
              <a:t> SeqCst屏障序列化流水线</a:t>
            </a:r>
            <a:endParaRPr lang="en-US" sz="1200" dirty="0"/>
          </a:p>
          <a:p>
            <a:pPr marL="0" indent="0">
              <a:lnSpc>
                <a:spcPct val="160000"/>
              </a:lnSpc>
              <a:buNone/>
            </a:pPr>
            <a:r>
              <a:rPr lang="en-US" sz="1200" b="1" dirty="0">
                <a:solidFill>
                  <a:srgbClr val="2563EB"/>
                </a:solidFill>
              </a:rPr>
              <a:t>5</a:t>
            </a:r>
            <a:r>
              <a:rPr lang="en-US" sz="1200" dirty="0">
                <a:solidFill>
                  <a:srgbClr val="1A1D23"/>
                </a:solidFill>
              </a:rPr>
              <a:t> 释放远程CPU恢复执行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937760" y="4023360"/>
            <a:ext cx="1751076" cy="228600"/>
          </a:xfrm>
          <a:prstGeom prst="rect">
            <a:avLst/>
          </a:prstGeom>
          <a:solidFill>
            <a:srgbClr val="F0FFF0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937760" y="4023360"/>
            <a:ext cx="17510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16A3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无需INT3断点法——利用5字节原子性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17 / 28</a:t>
            </a:r>
            <a:endParaRPr lang="en-US" sz="8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8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2563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patching · batch benefit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" y="594360"/>
            <a:ext cx="78638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A1D2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批量修补事务对比</a:t>
            </a:r>
            <a:endParaRPr lang="en-US" sz="3600" dirty="0"/>
          </a:p>
        </p:txBody>
      </p:sp>
      <p:pic>
        <p:nvPicPr>
          <p:cNvPr id="4" name="Image 0" descr="/root/asterinas-dyn-debug/一些开发资料/pic/result_charts/fig4_patch_bench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40080" y="1280160"/>
            <a:ext cx="7863840" cy="34747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18 / 28</a:t>
            </a:r>
            <a:endParaRPr lang="en-US" sz="8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0" y="914400"/>
            <a:ext cx="3657600" cy="3291840"/>
          </a:xfrm>
          <a:prstGeom prst="rect">
            <a:avLst/>
          </a:prstGeom>
          <a:solidFill>
            <a:srgbClr val="2563EB">
              <a:alpha val="6000"/>
            </a:srgbClr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137160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kern="0" spc="600" dirty="0">
                <a:solidFill>
                  <a:srgbClr val="2563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PART 05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7863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400" b="1" dirty="0">
                <a:solidFill>
                  <a:srgbClr val="2563E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测试结果</a:t>
            </a:r>
            <a:endParaRPr lang="en-US" sz="5400" dirty="0"/>
          </a:p>
        </p:txBody>
      </p:sp>
      <p:sp>
        <p:nvSpPr>
          <p:cNvPr id="5" name="Shape 3"/>
          <p:cNvSpPr/>
          <p:nvPr/>
        </p:nvSpPr>
        <p:spPr>
          <a:xfrm>
            <a:off x="3840480" y="2834640"/>
            <a:ext cx="1463040" cy="0"/>
          </a:xfrm>
          <a:prstGeom prst="line">
            <a:avLst/>
          </a:prstGeom>
          <a:noFill/>
          <a:ln w="38100">
            <a:solidFill>
              <a:srgbClr val="2563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371600" y="310896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3A4250"/>
                </a:solidFill>
              </a:rPr>
              <a:t>性能 · 正确性 · 增量优化 · 并发可靠性</a:t>
            </a:r>
            <a:endParaRPr lang="en-US" sz="16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8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2563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perf · microbenchmark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" y="594360"/>
            <a:ext cx="78638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A1D2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微基准热路径性能对比</a:t>
            </a:r>
            <a:endParaRPr lang="en-US" sz="3600" dirty="0"/>
          </a:p>
        </p:txBody>
      </p:sp>
      <p:pic>
        <p:nvPicPr>
          <p:cNvPr id="4" name="Image 0" descr="/root/asterinas-dyn-debug/一些开发资料/pic/result_charts/fig1_p01_perf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40080" y="1234440"/>
            <a:ext cx="7863840" cy="201168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40080" y="3291840"/>
            <a:ext cx="7863840" cy="150876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87852462"/>
              </p:ext>
            </p:extLst>
          </p:nvPr>
        </p:nvGraphicFramePr>
        <p:xfrm>
          <a:off x="1280160" y="3369927"/>
          <a:ext cx="6583680" cy="1188720"/>
        </p:xfrm>
        <a:graphic>
          <a:graphicData uri="http://schemas.openxmlformats.org/drawingml/2006/table">
            <a:tbl>
              <a:tblPr/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6B728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后端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6B728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平均耗时 (µs)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6B728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最小 (µs)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6B728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最大 (µs)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6B728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相对 baseline 增幅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</a:rPr>
                        <a:t>baseline (no-op)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9,355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9,147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10,294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—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</a:rPr>
                        <a:t>branch (分支判断)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9,625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8,985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10,662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+2.9%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</a:rPr>
                        <a:t>static (NOP5禁用态)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9,450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9,011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10,445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6A34A"/>
                          </a:solidFill>
                        </a:rPr>
                        <a:t>+1.0%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7" name="Text 3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 / 28</a:t>
            </a:r>
            <a:endParaRPr lang="en-US" sz="8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8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2563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perf · real workload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" y="594360"/>
            <a:ext cx="78638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A1D2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真实工作负载开销对比</a:t>
            </a:r>
            <a:endParaRPr lang="en-US" sz="3600" dirty="0"/>
          </a:p>
        </p:txBody>
      </p:sp>
      <p:pic>
        <p:nvPicPr>
          <p:cNvPr id="4" name="Image 0" descr="/root/asterinas-dyn-debug/一些开发资料/pic/result_charts/fig2_workloa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40080" y="1234440"/>
            <a:ext cx="7863840" cy="22860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40080" y="3749040"/>
            <a:ext cx="3840480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640080" y="3749040"/>
            <a:ext cx="45720" cy="9144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914400" y="3858768"/>
            <a:ext cx="33832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3A4250"/>
                </a:solidFill>
              </a:rPr>
              <a:t>关键发现：dyndbg的增量开销与负载复杂度无关——始终是每个调用点的固定NOP5成本，不受周围业务逻辑影响。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4709160" y="3749040"/>
            <a:ext cx="3840480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4709160" y="3749040"/>
            <a:ext cx="45720" cy="9144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983480" y="3858768"/>
            <a:ext cx="33832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3A4250"/>
                </a:solidFill>
              </a:rPr>
              <a:t>设计验证：即使在没有静态修补的架构上，模块门控 + AtomicBool两级过滤也足以将开销控制在3%以内。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21 / 28</a:t>
            </a:r>
            <a:endParaRPr lang="en-US" sz="8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8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2563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test · functional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" y="594360"/>
            <a:ext cx="78638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A1D2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功能正确性测试</a:t>
            </a:r>
            <a:endParaRPr lang="en-US" sz="3600" dirty="0"/>
          </a:p>
        </p:txBody>
      </p:sp>
      <p:pic>
        <p:nvPicPr>
          <p:cNvPr id="4" name="Image 0" descr="/root/asterinas-dyn-debug/一些开发资料/pic/result_charts/tab1_functional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40080" y="1280160"/>
            <a:ext cx="7863840" cy="34747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22 / 28</a:t>
            </a:r>
            <a:endParaRPr lang="en-US" sz="8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8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2563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test · ablation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" y="594360"/>
            <a:ext cx="78638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A1D2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索引消融实验与增量优化</a:t>
            </a:r>
            <a:endParaRPr lang="en-US" sz="3600" dirty="0"/>
          </a:p>
        </p:txBody>
      </p:sp>
      <p:pic>
        <p:nvPicPr>
          <p:cNvPr id="4" name="Image 0" descr="/root/asterinas-dyn-debug/一些开发资料/pic/result_charts/fig3_index_ablation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40080" y="1234440"/>
            <a:ext cx="7863840" cy="210312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40080" y="3429000"/>
            <a:ext cx="7863840" cy="137160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graphicFrame>
        <p:nvGraphicFramePr>
          <p:cNvPr id="2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3502152"/>
          <a:ext cx="7589520" cy="1024128"/>
        </p:xfrm>
        <a:graphic>
          <a:graphicData uri="http://schemas.openxmlformats.org/drawingml/2006/table">
            <a:tbl>
              <a:tblPr/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560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6B728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指标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6B728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优化前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6B728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优化后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6B728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改善幅度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</a:rPr>
                        <a:t>描述符重算量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283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65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6A34A"/>
                          </a:solidFill>
                        </a:rPr>
                        <a:t>77% ↓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</a:rPr>
                        <a:t>模块修补次数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153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2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6A34A"/>
                          </a:solidFill>
                        </a:rPr>
                        <a:t>98.7% ↓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</a:rPr>
                        <a:t>更新延迟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2,469 µs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276 µs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6A34A"/>
                          </a:solidFill>
                        </a:rPr>
                        <a:t>8.9× 加速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7" name="Text 3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23 / 28</a:t>
            </a:r>
            <a:endParaRPr lang="en-US" sz="8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8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2563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test · concurrency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" y="594360"/>
            <a:ext cx="78638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A1D2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并发可靠性测试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640080" y="1371600"/>
            <a:ext cx="2514600" cy="301752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9224" y="1371600"/>
            <a:ext cx="2496312" cy="36576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1508760"/>
            <a:ext cx="2148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D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并发开关 C-01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22960" y="1965960"/>
            <a:ext cx="214884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3A4250"/>
                </a:solidFill>
              </a:rPr>
              <a:t>后台5,000次toggle（+p→clear循环），前台50,000次log基准并发运行。验证"一边改指令槽，一边执行被修改代码"的SMP安全性。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822960" y="3794760"/>
            <a:ext cx="2148840" cy="292608"/>
          </a:xfrm>
          <a:prstGeom prst="rect">
            <a:avLst/>
          </a:prstGeom>
          <a:solidFill>
            <a:srgbClr val="F0FFF0"/>
          </a:solidFill>
          <a:ln w="6350">
            <a:solidFill>
              <a:srgbClr val="16A34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3794760"/>
            <a:ext cx="2148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6A3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dmesg_hits=0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337560" y="1371600"/>
            <a:ext cx="2514600" cy="301752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346704" y="1371600"/>
            <a:ext cx="2496312" cy="36576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520440" y="1508760"/>
            <a:ext cx="2148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 err="1">
                <a:solidFill>
                  <a:srgbClr val="1A1D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高频压力</a:t>
            </a:r>
            <a:r>
              <a:rPr lang="en-US" sz="1500" b="1" dirty="0">
                <a:solidFill>
                  <a:srgbClr val="1A1D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C-02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520440" y="1965960"/>
            <a:ext cx="214884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3A4250"/>
                </a:solidFill>
              </a:rPr>
              <a:t>单进程连续100,000次规则toggle，测量执行时间验证无内存泄漏、无锁死锁。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520440" y="3794760"/>
            <a:ext cx="2148840" cy="292608"/>
          </a:xfrm>
          <a:prstGeom prst="rect">
            <a:avLst/>
          </a:prstGeom>
          <a:solidFill>
            <a:srgbClr val="F0FFF0"/>
          </a:solidFill>
          <a:ln w="6350">
            <a:solidFill>
              <a:srgbClr val="16A34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520440" y="3794760"/>
            <a:ext cx="2148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6A3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10万次toggle · 7.6s · dmesg_hits=0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035040" y="1371600"/>
            <a:ext cx="2514600" cy="301752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044184" y="1371600"/>
            <a:ext cx="2496312" cy="36576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217920" y="1508760"/>
            <a:ext cx="2148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 err="1">
                <a:solidFill>
                  <a:srgbClr val="1A1D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修补风暴</a:t>
            </a:r>
            <a:r>
              <a:rPr lang="en-US" sz="1500" b="1" dirty="0">
                <a:solidFill>
                  <a:srgbClr val="1A1D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C-03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217920" y="1965960"/>
            <a:ext cx="214884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3A4250"/>
                </a:solidFill>
              </a:rPr>
              <a:t>5进程并发×2000次规则变更，多CPU同时竞争PATCH_LOCK，IPI远程CPU高频进入旋转等待。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217920" y="3794760"/>
            <a:ext cx="2148840" cy="292608"/>
          </a:xfrm>
          <a:prstGeom prst="rect">
            <a:avLst/>
          </a:prstGeom>
          <a:solidFill>
            <a:srgbClr val="F0FFF0"/>
          </a:solidFill>
          <a:ln w="6350">
            <a:solidFill>
              <a:srgbClr val="16A34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217920" y="3794760"/>
            <a:ext cx="2148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6A3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5进程×2000次 · 1.1s · dmesg_hits=0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40080" y="457200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A4250"/>
                </a:solidFill>
              </a:rPr>
              <a:t>全部三项测试 dmesg 干净无异常：PatchRendezvous协议在高压下保持正确，PATCH_LOCK有效串行化并发请求。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24 / 28</a:t>
            </a:r>
            <a:endParaRPr lang="en-US" sz="8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177143" y="914400"/>
            <a:ext cx="5000171" cy="3291840"/>
          </a:xfrm>
          <a:prstGeom prst="rect">
            <a:avLst/>
          </a:prstGeom>
          <a:solidFill>
            <a:srgbClr val="2563EB">
              <a:alpha val="6000"/>
            </a:srgbClr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137160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kern="0" spc="600" dirty="0">
                <a:solidFill>
                  <a:srgbClr val="2563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PART 06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7863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400" b="1" dirty="0">
                <a:solidFill>
                  <a:srgbClr val="2563E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创新点与总结</a:t>
            </a:r>
            <a:endParaRPr lang="en-US" sz="5400" dirty="0"/>
          </a:p>
        </p:txBody>
      </p:sp>
      <p:sp>
        <p:nvSpPr>
          <p:cNvPr id="5" name="Shape 3"/>
          <p:cNvSpPr/>
          <p:nvPr/>
        </p:nvSpPr>
        <p:spPr>
          <a:xfrm>
            <a:off x="3840480" y="2834640"/>
            <a:ext cx="1463040" cy="0"/>
          </a:xfrm>
          <a:prstGeom prst="line">
            <a:avLst/>
          </a:prstGeom>
          <a:noFill/>
          <a:ln w="38100">
            <a:solidFill>
              <a:srgbClr val="2563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371600" y="310896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3A4250"/>
                </a:solidFill>
              </a:rPr>
              <a:t>对比分析 · 核心贡献 · 未来展望</a:t>
            </a:r>
            <a:endParaRPr lang="en-US" sz="16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8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2563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comparison · linux dyndbg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" y="594360"/>
            <a:ext cx="78638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A1D2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与Linux dyndbg 对比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640080" y="1371600"/>
            <a:ext cx="7863840" cy="365760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graphicFrame>
        <p:nvGraphicFramePr>
          <p:cNvPr id="2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444752"/>
          <a:ext cx="7589520" cy="2761488"/>
        </p:xfrm>
        <a:graphic>
          <a:graphicData uri="http://schemas.openxmlformats.org/drawingml/2006/table">
            <a:tbl>
              <a:tblPr/>
              <a:tblGrid>
                <a:gridCol w="1463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175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108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6B728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维度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6B728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Linux dyndbg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6B728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本项目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</a:rPr>
                        <a:t>编译期聚合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C __attribute__((section)) + 手工ELF段遍历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6A34A"/>
                          </a:solidFill>
                        </a:rPr>
                        <a:t>Rust linkme 分布式切片 + 类型安全编译期聚合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</a:rPr>
                        <a:t>运行时注册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模块加载时动态分配 ddebug_table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6A34A"/>
                          </a:solidFill>
                        </a:rPr>
                        <a:t>&amp;'static 常量 + 启动时一次性注册，零动态分配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</a:rPr>
                        <a:t>指令修补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逐站点 text_poke_bp() + INT3断点法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6A34A"/>
                          </a:solidFill>
                        </a:rPr>
                        <a:t>模块级批量 PatchRendezvous + IPI集结（32.5×减少）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</a:rPr>
                        <a:t>可观测性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无内置性能观测计数器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6A34A"/>
                          </a:solidFill>
                        </a:rPr>
                        <a:t>5个 AtomicU64 计数器 + dyndbg_stats接口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</a:rPr>
                        <a:t>性能测试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依赖外部perf + 多次编译重启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6A34A"/>
                          </a:solidFill>
                        </a:rPr>
                        <a:t>procfs自包含测试框架 + 运行时热切换后端/索引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</a:rPr>
                        <a:t>代码安全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C语言，需手工管理内存和并发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6A34A"/>
                          </a:solidFill>
                        </a:rPr>
                        <a:t>95% safe Rust，unsafe严格限制在3个底层模块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26 / 28</a:t>
            </a:r>
            <a:endParaRPr lang="en-US" sz="8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8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2563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summary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" y="594360"/>
            <a:ext cx="78638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A1D2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项目总结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640080" y="1371600"/>
            <a:ext cx="3931920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9224" y="1371600"/>
            <a:ext cx="3913632" cy="36576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1481328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 err="1">
                <a:solidFill>
                  <a:srgbClr val="1A1D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功能完整性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22960" y="1874520"/>
            <a:ext cx="3566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3A4250"/>
                </a:solidFill>
              </a:rPr>
              <a:t>四维选择器；Last-match-wins规则链；运行中动态增删规则；异常输入安全处理；覆盖Linux dyndbg核心语义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800600" y="1371600"/>
            <a:ext cx="3931920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809744" y="1371600"/>
            <a:ext cx="3913632" cy="36576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983480" y="1481328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 err="1">
                <a:solidFill>
                  <a:srgbClr val="1A1D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性能零开销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983480" y="1874520"/>
            <a:ext cx="3566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3A4250"/>
                </a:solidFill>
              </a:rPr>
              <a:t>NOP5静态修补~0.95ns/调用点；6种真实负载overhead&lt;2%；编译期最大化·运行时最小化；linkme分布式切片·零动态分配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40080" y="2971800"/>
            <a:ext cx="3931920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49224" y="2971800"/>
            <a:ext cx="3913632" cy="36576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2960" y="3081528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 err="1">
                <a:solidFill>
                  <a:srgbClr val="1A1D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SMP并发安全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22960" y="3474720"/>
            <a:ext cx="3566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3A4250"/>
                </a:solidFill>
              </a:rPr>
              <a:t>自研PatchRendezvous IPI协议；模块级批量修补（32.5×减少）；三类并发压力测试全部通过；95% safe Rust代码实现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800600" y="2971800"/>
            <a:ext cx="3931920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809744" y="2971800"/>
            <a:ext cx="3913632" cy="36576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983480" y="3081528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 err="1">
                <a:solidFill>
                  <a:srgbClr val="1A1D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工程方法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4983480" y="3474720"/>
            <a:ext cx="3566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3A4250"/>
                </a:solidFill>
              </a:rPr>
              <a:t>procfs自包含测试框架；10个测试脚本·4维度覆盖；消融实验量化各项技术收益；57页开发文档·完整技术记录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40080" y="443484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A4250"/>
                </a:solidFill>
              </a:rPr>
              <a:t>以约 </a:t>
            </a:r>
            <a:r>
              <a:rPr lang="en-US" sz="1300" b="1" dirty="0">
                <a:solidFill>
                  <a:srgbClr val="2563EB"/>
                </a:solidFill>
              </a:rPr>
              <a:t>95% safe Rust</a:t>
            </a:r>
            <a:r>
              <a:rPr lang="en-US" sz="1300" dirty="0">
                <a:solidFill>
                  <a:srgbClr val="3A4250"/>
                </a:solidFill>
              </a:rPr>
              <a:t> 代码实现了 Linux dynamic debug 的核心功能语义，在性能、安全、可观测性三个维度上均做出了差异化贡献。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27 / 28</a:t>
            </a:r>
            <a:endParaRPr lang="en-US" sz="8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200" b="1" kern="0" spc="200" dirty="0">
                <a:solidFill>
                  <a:srgbClr val="2563E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谢谢观看!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914400" y="256032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60000"/>
              </a:lnSpc>
              <a:buNone/>
            </a:pPr>
            <a:r>
              <a:rPr lang="en-US" sz="1600" dirty="0">
                <a:solidFill>
                  <a:srgbClr val="3A4250"/>
                </a:solidFill>
              </a:rPr>
              <a:t>面向Rust操作系统的高效动态调试机制</a:t>
            </a:r>
            <a:endParaRPr lang="en-US" sz="1600" dirty="0"/>
          </a:p>
          <a:p>
            <a:pPr marL="0" indent="0" algn="ctr">
              <a:lnSpc>
                <a:spcPct val="160000"/>
              </a:lnSpc>
              <a:buNone/>
            </a:pPr>
            <a:r>
              <a:rPr lang="en-US" sz="1600" dirty="0">
                <a:solidFill>
                  <a:srgbClr val="3A4250"/>
                </a:solidFill>
              </a:rPr>
              <a:t>—— 基于 Asterinas 的设计与实现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1645920" y="3749040"/>
            <a:ext cx="1371600" cy="292608"/>
          </a:xfrm>
          <a:prstGeom prst="rect">
            <a:avLst/>
          </a:prstGeom>
          <a:solidFill>
            <a:srgbClr val="EEF0FF"/>
          </a:solidFill>
          <a:ln w="6350">
            <a:solidFill>
              <a:srgbClr val="2563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645920" y="3749040"/>
            <a:ext cx="1371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2563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队伍：儒雅的读书人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291840" y="3749040"/>
            <a:ext cx="1371600" cy="292608"/>
          </a:xfrm>
          <a:prstGeom prst="rect">
            <a:avLst/>
          </a:prstGeom>
          <a:solidFill>
            <a:srgbClr val="F0F3F6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91840" y="3749040"/>
            <a:ext cx="1371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A42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成员：林辉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937760" y="3749040"/>
            <a:ext cx="1371600" cy="292608"/>
          </a:xfrm>
          <a:prstGeom prst="rect">
            <a:avLst/>
          </a:prstGeom>
          <a:solidFill>
            <a:srgbClr val="F0F3F6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937760" y="3749040"/>
            <a:ext cx="1371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A42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学校：厦门大学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6583680" y="3749040"/>
            <a:ext cx="1371600" cy="292608"/>
          </a:xfrm>
          <a:prstGeom prst="rect">
            <a:avLst/>
          </a:prstGeom>
          <a:solidFill>
            <a:srgbClr val="F0F3F6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583680" y="3749040"/>
            <a:ext cx="1371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A42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赛题：proj10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1393</Words>
  <Application>Microsoft Office PowerPoint</Application>
  <PresentationFormat>全屏显示(16:9)</PresentationFormat>
  <Paragraphs>361</Paragraphs>
  <Slides>27</Slides>
  <Notes>27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27</vt:i4>
      </vt:variant>
    </vt:vector>
  </HeadingPairs>
  <TitlesOfParts>
    <vt:vector size="31" baseType="lpstr">
      <vt:lpstr>Arial</vt:lpstr>
      <vt:lpstr>Arial Black</vt:lpstr>
      <vt:lpstr>Consolas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面向Rust操作系统的高效动态调试机制 — 技术汇报</dc:title>
  <dc:subject>PptxGenJS Presentation</dc:subject>
  <dc:creator>林辉</dc:creator>
  <cp:lastModifiedBy>H L</cp:lastModifiedBy>
  <cp:revision>2</cp:revision>
  <dcterms:created xsi:type="dcterms:W3CDTF">2026-06-27T08:24:16Z</dcterms:created>
  <dcterms:modified xsi:type="dcterms:W3CDTF">2026-06-27T08:46:22Z</dcterms:modified>
</cp:coreProperties>
</file>