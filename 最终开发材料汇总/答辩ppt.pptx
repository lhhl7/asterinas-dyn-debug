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639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asterinas-dyn-debug/演示材料/xm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09728"/>
            <a:ext cx="621792" cy="62179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074920"/>
            <a:ext cx="304797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047970" y="5074920"/>
            <a:ext cx="304797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95939" y="5074920"/>
            <a:ext cx="3047970" cy="6400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OS功能挑战赛 · proj10 · 技术汇报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09728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Rust OS 的高效</a:t>
            </a:r>
            <a:endParaRPr lang="en-US" sz="5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动态调试</a:t>
            </a:r>
            <a:r>
              <a:rPr lang="en-US" sz="5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A4250"/>
                </a:solidFill>
              </a:rPr>
              <a:t>—— 基于 Asterinas 的设计与实现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队伍：</a:t>
            </a:r>
            <a:r>
              <a:rPr lang="en-US" sz="1200" b="1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儒雅的读书人</a:t>
            </a: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成员：</a:t>
            </a:r>
            <a:r>
              <a:rPr lang="en-US" sz="1200" b="1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林辉</a:t>
            </a: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指导老师：</a:t>
            </a:r>
            <a:r>
              <a:rPr lang="en-US" sz="1200" b="1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郑炜</a:t>
            </a: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学校：</a:t>
            </a:r>
            <a:r>
              <a:rPr lang="en-US" sz="1200" b="1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厦门大学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709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#rust #kernel #dynamic-debug #asterinas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12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868"/>
    </mc:Choice>
    <mc:Fallback>
      <p:transition spd="slow" advTm="986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asterinas-dyn-debug/演示材料/xm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09728"/>
            <a:ext cx="621792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2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u="sng" dirty="0">
                <a:solidFill>
                  <a:srgbClr val="2563EB"/>
                </a:solidFill>
                <a:uFill>
                  <a:solidFill>
                    <a:srgbClr val="2563EB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｜  系统架构  ｜  系统模块  ｜  扩展实现  ｜  测试结果  ｜  总结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640080" y="438912"/>
            <a:ext cx="1801368" cy="320040"/>
          </a:xfrm>
          <a:prstGeom prst="rect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438912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项目背景与目标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1143000"/>
            <a:ext cx="25146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9224" y="1143000"/>
            <a:ext cx="249631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3258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182880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A4250"/>
                </a:solidFill>
              </a:rPr>
              <a:t>主流 Rust OS 内核（Asterinas、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A4250"/>
                </a:solidFill>
              </a:rPr>
              <a:t>Tock、Redox 等）的日志系统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A4250"/>
                </a:solidFill>
              </a:rPr>
              <a:t>依赖编译期全局开关，缺乏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 err="1">
                <a:solidFill>
                  <a:srgbClr val="3A4250"/>
                </a:solidFill>
              </a:rPr>
              <a:t>运行时过滤能力</a:t>
            </a:r>
            <a:r>
              <a:rPr lang="en-US" sz="1100" dirty="0">
                <a:solidFill>
                  <a:srgbClr val="3A4250"/>
                </a:solidFill>
              </a:rPr>
              <a:t>——</a:t>
            </a:r>
            <a:r>
              <a:rPr lang="en-US" sz="1100" b="1" dirty="0" err="1">
                <a:solidFill>
                  <a:srgbClr val="2563EB"/>
                </a:solidFill>
              </a:rPr>
              <a:t>调试日志开启后各模块输出混杂，切换调试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2563EB"/>
                </a:solidFill>
              </a:rPr>
              <a:t>范围需要重启甚至重编译内核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A4250"/>
                </a:solidFill>
              </a:rPr>
              <a:t>严重制约开发迭代效率。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1143000"/>
            <a:ext cx="25146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46704" y="1143000"/>
            <a:ext cx="249631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0440" y="13258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赛题任务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520440" y="182880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3A4250"/>
                </a:solidFill>
              </a:rPr>
              <a:t>借鉴 Linux Dynamic Debug</a:t>
            </a:r>
            <a:endParaRPr lang="en-US" sz="11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3A4250"/>
                </a:solidFill>
              </a:rPr>
              <a:t>原理，实现适应 Rust 语言特性</a:t>
            </a:r>
            <a:endParaRPr lang="en-US" sz="11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3A4250"/>
                </a:solidFill>
              </a:rPr>
              <a:t>的运行时动态日志过滤系统</a:t>
            </a:r>
            <a:endParaRPr lang="en-US" sz="11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3A4250"/>
                </a:solidFill>
              </a:rPr>
              <a:t>技术指标：功能完整性、</a:t>
            </a:r>
            <a:endParaRPr lang="en-US" sz="11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3A4250"/>
                </a:solidFill>
              </a:rPr>
              <a:t>正确性、性能保障（禁用态</a:t>
            </a:r>
            <a:endParaRPr lang="en-US" sz="11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3A4250"/>
                </a:solidFill>
              </a:rPr>
              <a:t>零开销）、鲁棒性。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35040" y="1143000"/>
            <a:ext cx="25146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44184" y="1143000"/>
            <a:ext cx="249631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13258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项目意义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217920" y="182880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3A4250"/>
                </a:solidFill>
              </a:rPr>
              <a:t>验证 Rust 安全约束下能否</a:t>
            </a:r>
            <a:endParaRPr lang="en-US" sz="11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3A4250"/>
                </a:solidFill>
              </a:rPr>
              <a:t>设计出与 Linux 同级性能的</a:t>
            </a:r>
            <a:endParaRPr lang="en-US" sz="11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3A4250"/>
                </a:solidFill>
              </a:rPr>
              <a:t>动态调试系统，为 Rust</a:t>
            </a:r>
            <a:endParaRPr lang="en-US" sz="11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3A4250"/>
                </a:solidFill>
              </a:rPr>
              <a:t>系统软件应对底层性能挑战</a:t>
            </a:r>
            <a:endParaRPr lang="en-US" sz="11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3A4250"/>
                </a:solidFill>
              </a:rPr>
              <a:t>提供实践案例。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solidFill>
            <a:srgbClr val="F0F3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408736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A4250"/>
                </a:solidFill>
              </a:rPr>
              <a:t>基本目标：</a:t>
            </a:r>
            <a:r>
              <a:rPr lang="en-US" sz="1000" dirty="0">
                <a:solidFill>
                  <a:srgbClr val="3A4250"/>
                </a:solidFill>
              </a:rPr>
              <a:t>功能完整性 · 性能保障 · 即时响应 · 生产可用</a:t>
            </a:r>
            <a:r>
              <a:rPr lang="en-US" sz="1000" dirty="0">
                <a:solidFill>
                  <a:srgbClr val="6B7280"/>
                </a:solidFill>
              </a:rPr>
              <a:t>   ｜   </a:t>
            </a:r>
            <a:r>
              <a:rPr lang="en-US" sz="1000" b="1" dirty="0">
                <a:solidFill>
                  <a:srgbClr val="7C3AED"/>
                </a:solidFill>
              </a:rPr>
              <a:t>扩展目标：StaticKey 通用化 · 轻量级 Tracepoint</a:t>
            </a:r>
            <a:r>
              <a:rPr lang="en-US" sz="1000" dirty="0">
                <a:solidFill>
                  <a:srgbClr val="6B7280"/>
                </a:solidFill>
              </a:rPr>
              <a:t> —— 通用分支原语和结构化追踪观测能力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asterinas-dyn-debug/演示材料/xm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09728"/>
            <a:ext cx="621792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2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  ｜  </a:t>
            </a:r>
            <a:r>
              <a:rPr lang="en-US" sz="900" b="1" u="sng" dirty="0">
                <a:solidFill>
                  <a:srgbClr val="2563EB"/>
                </a:solidFill>
                <a:uFill>
                  <a:solidFill>
                    <a:srgbClr val="2563EB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｜  系统模块  ｜  扩展实现  ｜  测试结果  ｜  总结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640080" y="438912"/>
            <a:ext cx="2029968" cy="320040"/>
          </a:xfrm>
          <a:prstGeom prst="rect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438912"/>
            <a:ext cx="1847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系统整体分层架构</a:t>
            </a:r>
            <a:endParaRPr lang="en-US" sz="1800" dirty="0"/>
          </a:p>
        </p:txBody>
      </p:sp>
      <p:pic>
        <p:nvPicPr>
          <p:cNvPr id="6" name="Image 1" descr="/root/asterinas-dyn-debug/一些开发资料/pic/1架构图/架构图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94560" y="822960"/>
            <a:ext cx="6309360" cy="3886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8368" y="978408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68680" y="914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编译期静态聚合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68680" y="12070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宏层 + 静态注册层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58368" y="2395728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8680" y="2331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运行时控制路径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68680" y="26243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用户层 · 过滤层 · 修补层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58368" y="3813048"/>
            <a:ext cx="118872" cy="118872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68680" y="3749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B2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两条链路贯穿全栈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asterinas-dyn-debug/演示材料/xm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09728"/>
            <a:ext cx="621792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2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  ｜  系统架构  ｜  </a:t>
            </a:r>
            <a:r>
              <a:rPr lang="en-US" sz="900" b="1" u="sng" dirty="0">
                <a:solidFill>
                  <a:srgbClr val="2563EB"/>
                </a:solidFill>
                <a:uFill>
                  <a:solidFill>
                    <a:srgbClr val="2563EB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系统模块</a:t>
            </a: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｜  扩展实现  ｜  测试结果  ｜  总结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640080" y="438912"/>
            <a:ext cx="2715768" cy="320040"/>
          </a:xfrm>
          <a:prstGeom prst="rect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438912"/>
            <a:ext cx="2532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编译期基础设施：宏系统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383280" y="1024128"/>
            <a:ext cx="2377440" cy="420624"/>
          </a:xfrm>
          <a:prstGeom prst="rect">
            <a:avLst/>
          </a:prstGeom>
          <a:solidFill>
            <a:srgbClr val="F0F3F6"/>
          </a:solidFill>
          <a:ln w="9525">
            <a:solidFill>
              <a:srgbClr val="B0BEC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383280" y="10241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源码调用 dyndbg_debug!()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0" y="1444752"/>
            <a:ext cx="0" cy="164592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31720" y="1609344"/>
            <a:ext cx="4480560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31720" y="1609344"/>
            <a:ext cx="0" cy="18288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812280" y="1609344"/>
            <a:ext cx="0" cy="18288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40080" y="1828800"/>
            <a:ext cx="46634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A5D6A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" y="1828800"/>
            <a:ext cx="4663440" cy="347472"/>
          </a:xfrm>
          <a:prstGeom prst="rect">
            <a:avLst/>
          </a:prstGeom>
          <a:solidFill>
            <a:srgbClr val="E8F5E9"/>
          </a:solidFill>
          <a:ln w="9525">
            <a:solidFill>
              <a:srgbClr val="A5D6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18470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后端一 · Static Patch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21945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= "dyndbg"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68680" y="239572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生成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68680" y="25968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5 字节 NOP 内联汇编槽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68680" y="285292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跳转目标标签：log + trace 双模式块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68680" y="310896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调用点描述符 + site 注册 / KEY_MAPPING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68680" y="334670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运行时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68680" y="354787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禁用态：NOP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68680" y="380390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启用态：JMP → 日志 / trace 推送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669280" y="1828800"/>
            <a:ext cx="28346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90CAF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669280" y="1828800"/>
            <a:ext cx="2834640" cy="347472"/>
          </a:xfrm>
          <a:prstGeom prst="rect">
            <a:avLst/>
          </a:prstGeom>
          <a:solidFill>
            <a:srgbClr val="E3F2FD"/>
          </a:solidFill>
          <a:ln w="9525">
            <a:solidFill>
              <a:srgbClr val="90CAF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97880" y="18470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后端二 · Branch Gating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897880" y="21945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= "branchdbg"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897880" y="23957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生成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897880" y="26151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调用点描述符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897880" y="30906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运行时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897880" y="33101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模块门控 + log/trace </a:t>
            </a:r>
            <a:r>
              <a:rPr lang="en-US" sz="950" dirty="0" err="1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双标志分支判断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solidFill>
            <a:srgbClr val="F0F3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2960" y="4133088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2563EB"/>
                </a:solidFill>
              </a:rPr>
              <a:t>编译期最大化：</a:t>
            </a:r>
            <a:r>
              <a:rPr lang="en-US" sz="900" dirty="0">
                <a:solidFill>
                  <a:srgbClr val="3A4250"/>
                </a:solidFill>
              </a:rPr>
              <a:t>linkme 分布式切片替代 ELF 段聚合；&amp;'static 常量 + 启动时一次性注册与索引构建 —— 运行时零动态分配、零模块注册开销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asterinas-dyn-debug/演示材料/xm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09728"/>
            <a:ext cx="621792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2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  ｜  系统架构  ｜  </a:t>
            </a:r>
            <a:r>
              <a:rPr lang="en-US" sz="900" b="1" u="sng" dirty="0">
                <a:solidFill>
                  <a:srgbClr val="2563EB"/>
                </a:solidFill>
                <a:uFill>
                  <a:solidFill>
                    <a:srgbClr val="2563EB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系统模块</a:t>
            </a: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｜  扩展实现  ｜  测试结果  ｜  总结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640080" y="438912"/>
            <a:ext cx="1801368" cy="320040"/>
          </a:xfrm>
          <a:prstGeom prst="rect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438912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运行时过滤引擎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1097280"/>
            <a:ext cx="2068830" cy="1188720"/>
          </a:xfrm>
          <a:prstGeom prst="chevron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" y="1261872"/>
            <a:ext cx="17945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49808" y="1499616"/>
            <a:ext cx="17945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用户接口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71750" y="1097280"/>
            <a:ext cx="2068830" cy="1188720"/>
          </a:xfrm>
          <a:prstGeom prst="chevron">
            <a:avLst/>
          </a:prstGeom>
          <a:solidFill>
            <a:srgbClr val="EAF2FD"/>
          </a:solidFill>
          <a:ln w="9525">
            <a:solidFill>
              <a:srgbClr val="7FB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81478" y="1261872"/>
            <a:ext cx="17945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681478" y="1499616"/>
            <a:ext cx="17945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候选收集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03420" y="1097280"/>
            <a:ext cx="2068830" cy="1188720"/>
          </a:xfrm>
          <a:prstGeom prst="chevron">
            <a:avLst/>
          </a:prstGeom>
          <a:solidFill>
            <a:srgbClr val="EAF2FD"/>
          </a:solidFill>
          <a:ln w="9525">
            <a:solidFill>
              <a:srgbClr val="7FB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13148" y="1261872"/>
            <a:ext cx="17945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709160" y="1484653"/>
            <a:ext cx="17945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状态裁决与刷新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35090" y="1097280"/>
            <a:ext cx="2068830" cy="1188720"/>
          </a:xfrm>
          <a:prstGeom prst="chevron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44818" y="1261872"/>
            <a:ext cx="17945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544818" y="1499616"/>
            <a:ext cx="17945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触发修补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0080" y="2441448"/>
            <a:ext cx="78638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674495" y="2286000"/>
            <a:ext cx="0" cy="164592"/>
          </a:xfrm>
          <a:prstGeom prst="line">
            <a:avLst/>
          </a:prstGeom>
          <a:noFill/>
          <a:ln w="15875">
            <a:solidFill>
              <a:srgbClr val="93A9C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640330" y="2578608"/>
            <a:ext cx="0" cy="1024128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8091" y="2578608"/>
            <a:ext cx="1892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procfs 虚拟文件 · 读写即操作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写规则 · cat 看状态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606165" y="2286000"/>
            <a:ext cx="0" cy="164592"/>
          </a:xfrm>
          <a:prstGeom prst="line">
            <a:avLst/>
          </a:prstGeom>
          <a:noFill/>
          <a:ln w="15875">
            <a:solidFill>
              <a:srgbClr val="93A9C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0" y="2578608"/>
            <a:ext cx="0" cy="1024128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659761" y="2578608"/>
            <a:ext cx="1892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</a:rPr>
              <a:t>主索引表/</a:t>
            </a:r>
            <a:r>
              <a:rPr lang="en-US" sz="950" b="1" dirty="0" err="1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</a:rPr>
              <a:t>段索引表</a:t>
            </a:r>
            <a:r>
              <a:rPr lang="en-US" sz="950" dirty="0" err="1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精确匹配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通配符线性扫描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537835" y="2286000"/>
            <a:ext cx="0" cy="164592"/>
          </a:xfrm>
          <a:prstGeom prst="line">
            <a:avLst/>
          </a:prstGeom>
          <a:noFill/>
          <a:ln w="15875">
            <a:solidFill>
              <a:srgbClr val="93A9C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03670" y="2578608"/>
            <a:ext cx="0" cy="1024128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91431" y="2578608"/>
            <a:ext cx="1892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last-match-wins 链序裁决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 </a:t>
            </a:r>
            <a:r>
              <a:rPr lang="en-US" sz="950" b="1" dirty="0" err="1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</a:rPr>
              <a:t>增量推导状态</a:t>
            </a:r>
            <a:endParaRPr lang="en-US" sz="950" b="1" dirty="0">
              <a:solidFill>
                <a:srgbClr val="2563EB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del/clear 重放规则链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469505" y="2286000"/>
            <a:ext cx="0" cy="164592"/>
          </a:xfrm>
          <a:prstGeom prst="line">
            <a:avLst/>
          </a:prstGeom>
          <a:noFill/>
          <a:ln w="15875">
            <a:solidFill>
              <a:srgbClr val="93A9C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23101" y="2578608"/>
            <a:ext cx="1892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模块启用计数 0↔1 翻转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 SMP </a:t>
            </a:r>
            <a:r>
              <a:rPr lang="en-US" sz="950" b="1" dirty="0" err="1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批量修补</a:t>
            </a:r>
            <a:r>
              <a:rPr lang="en-US" sz="950" dirty="0" err="1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40080" y="3840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控制路径复杂度与描述符总数解耦 —— 每次规则变更只处理受影响子集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asterinas-dyn-debug/演示材料/xm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09728"/>
            <a:ext cx="621792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2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  ｜  系统架构  ｜  </a:t>
            </a:r>
            <a:r>
              <a:rPr lang="en-US" sz="900" b="1" u="sng" dirty="0">
                <a:solidFill>
                  <a:srgbClr val="2563EB"/>
                </a:solidFill>
                <a:uFill>
                  <a:solidFill>
                    <a:srgbClr val="2563EB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系统模块</a:t>
            </a: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｜  扩展实现  ｜  测试结果  ｜  总结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640080" y="438912"/>
            <a:ext cx="1572768" cy="320040"/>
          </a:xfrm>
          <a:prstGeom prst="rect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438912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静态指令修补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82296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自制 PatchRendezvous 协议机制：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1188720"/>
            <a:ext cx="813816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335024"/>
            <a:ext cx="1737360" cy="274320"/>
          </a:xfrm>
          <a:prstGeom prst="rect">
            <a:avLst/>
          </a:prstGeom>
          <a:solidFill>
            <a:srgbClr val="E3F2FD"/>
          </a:solidFill>
          <a:ln w="9525">
            <a:solidFill>
              <a:srgbClr val="2196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3350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调用方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880360" y="1335024"/>
            <a:ext cx="2834640" cy="274320"/>
          </a:xfrm>
          <a:prstGeom prst="rect">
            <a:avLst/>
          </a:prstGeom>
          <a:solidFill>
            <a:srgbClr val="E3F2FD"/>
          </a:solidFill>
          <a:ln w="9525">
            <a:solidFill>
              <a:srgbClr val="2196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80360" y="13350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0（主）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80760" y="1335024"/>
            <a:ext cx="2377440" cy="274320"/>
          </a:xfrm>
          <a:prstGeom prst="rect">
            <a:avLst/>
          </a:prstGeom>
          <a:solidFill>
            <a:srgbClr val="E3F2FD"/>
          </a:solidFill>
          <a:ln w="9525">
            <a:solidFill>
              <a:srgbClr val="2196F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13350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1..N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645920" y="1645920"/>
            <a:ext cx="0" cy="2286000"/>
          </a:xfrm>
          <a:prstGeom prst="line">
            <a:avLst/>
          </a:prstGeom>
          <a:noFill/>
          <a:ln w="12700">
            <a:solidFill>
              <a:srgbClr val="C8D3E0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4297680" y="1645920"/>
            <a:ext cx="0" cy="2286000"/>
          </a:xfrm>
          <a:prstGeom prst="line">
            <a:avLst/>
          </a:prstGeom>
          <a:noFill/>
          <a:ln w="12700">
            <a:solidFill>
              <a:srgbClr val="C8D3E0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7269480" y="1645920"/>
            <a:ext cx="0" cy="2286000"/>
          </a:xfrm>
          <a:prstGeom prst="line">
            <a:avLst/>
          </a:prstGeom>
          <a:noFill/>
          <a:ln w="12700">
            <a:solidFill>
              <a:srgbClr val="C8D3E0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868680" y="1719072"/>
            <a:ext cx="1554480" cy="201168"/>
          </a:xfrm>
          <a:prstGeom prst="rect">
            <a:avLst/>
          </a:prstGeom>
          <a:solidFill>
            <a:srgbClr val="EAF2FD"/>
          </a:solidFill>
          <a:ln w="6350">
            <a:solidFill>
              <a:srgbClr val="7FB0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1719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</a:t>
            </a:r>
            <a:r>
              <a:rPr lang="en-US" sz="9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收集模块全部站点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514600" y="2121408"/>
            <a:ext cx="365760" cy="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1783080" y="1929384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发起批量修补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715000" y="2404872"/>
            <a:ext cx="365760" cy="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4983480" y="2212848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发送 IPI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715000" y="2569464"/>
            <a:ext cx="365760" cy="0"/>
          </a:xfrm>
          <a:prstGeom prst="line">
            <a:avLst/>
          </a:prstGeom>
          <a:noFill/>
          <a:ln w="28575">
            <a:solidFill>
              <a:srgbClr val="8A97A8"/>
            </a:solidFill>
            <a:prstDash val="dash"/>
            <a:headEnd type="triangle"/>
          </a:ln>
        </p:spPr>
      </p:sp>
      <p:sp>
        <p:nvSpPr>
          <p:cNvPr id="24" name="Shape 21"/>
          <p:cNvSpPr/>
          <p:nvPr/>
        </p:nvSpPr>
        <p:spPr>
          <a:xfrm>
            <a:off x="6263640" y="2651760"/>
            <a:ext cx="2057400" cy="859536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63640" y="2651760"/>
            <a:ext cx="2057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自旋等待释放信号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063240" y="2651760"/>
            <a:ext cx="2377440" cy="182880"/>
          </a:xfrm>
          <a:prstGeom prst="rect">
            <a:avLst/>
          </a:prstGeom>
          <a:solidFill>
            <a:srgbClr val="EAF2FD"/>
          </a:solidFill>
          <a:ln w="6350">
            <a:solidFill>
              <a:srgbClr val="7FB0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063240" y="26517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</a:t>
            </a:r>
            <a:r>
              <a:rPr lang="en-US" sz="9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关中断 · CR0.WP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063240" y="2926080"/>
            <a:ext cx="2377440" cy="182880"/>
          </a:xfrm>
          <a:prstGeom prst="rect">
            <a:avLst/>
          </a:prstGeom>
          <a:solidFill>
            <a:srgbClr val="EAF2FD"/>
          </a:solidFill>
          <a:ln w="6350">
            <a:solidFill>
              <a:srgbClr val="7FB0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063240" y="29260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</a:t>
            </a:r>
            <a:r>
              <a:rPr lang="en-US" sz="9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循环写 NOP5 / JMP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063240" y="3200400"/>
            <a:ext cx="2377440" cy="182880"/>
          </a:xfrm>
          <a:prstGeom prst="rect">
            <a:avLst/>
          </a:prstGeom>
          <a:solidFill>
            <a:srgbClr val="EAF2FD"/>
          </a:solidFill>
          <a:ln w="6350">
            <a:solidFill>
              <a:srgbClr val="7FB0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063240" y="32004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</a:t>
            </a:r>
            <a:r>
              <a:rPr lang="en-US" sz="9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内存屏障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2743200" y="2926080"/>
            <a:ext cx="0" cy="45720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43200" y="2926080"/>
            <a:ext cx="128016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743200" y="3383280"/>
            <a:ext cx="128016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 rot="16200000">
            <a:off x="2157984" y="301752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 每个站点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715000" y="3721608"/>
            <a:ext cx="365760" cy="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7" name="Text 34"/>
          <p:cNvSpPr/>
          <p:nvPr/>
        </p:nvSpPr>
        <p:spPr>
          <a:xfrm>
            <a:off x="4983480" y="3529584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释放信号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263640" y="3803904"/>
            <a:ext cx="2057400" cy="182880"/>
          </a:xfrm>
          <a:prstGeom prst="rect">
            <a:avLst/>
          </a:prstGeom>
          <a:solidFill>
            <a:srgbClr val="E8F7EE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263640" y="38039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退出自旋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514600" y="3822192"/>
            <a:ext cx="365760" cy="0"/>
          </a:xfrm>
          <a:prstGeom prst="line">
            <a:avLst/>
          </a:prstGeom>
          <a:noFill/>
          <a:ln w="28575">
            <a:solidFill>
              <a:srgbClr val="8A97A8"/>
            </a:solidFill>
            <a:prstDash val="dash"/>
            <a:headEnd type="triangle"/>
          </a:ln>
        </p:spPr>
      </p:sp>
      <p:sp>
        <p:nvSpPr>
          <p:cNvPr id="41" name="Text 38"/>
          <p:cNvSpPr/>
          <p:nvPr/>
        </p:nvSpPr>
        <p:spPr>
          <a:xfrm>
            <a:off x="1783080" y="3611880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⑧ 完成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solidFill>
            <a:srgbClr val="EEF0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22960" y="4178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2563EB"/>
                </a:solidFill>
              </a:rPr>
              <a:t>模块级批量修补对比逐站点粒度：</a:t>
            </a:r>
            <a:r>
              <a:rPr lang="en-US" sz="900" dirty="0">
                <a:solidFill>
                  <a:srgbClr val="3A4250"/>
                </a:solidFill>
              </a:rPr>
              <a:t>降低修补事务次数与开销、减少 SMP 竞争面、热路径能使用模块门控。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asterinas-dyn-debug/演示材料/xm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09728"/>
            <a:ext cx="621792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2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  ｜  系统架构  ｜  系统模块  ｜  </a:t>
            </a:r>
            <a:r>
              <a:rPr lang="en-US" sz="900" b="1" u="sng" dirty="0">
                <a:solidFill>
                  <a:srgbClr val="2563EB"/>
                </a:solidFill>
                <a:uFill>
                  <a:solidFill>
                    <a:srgbClr val="2563EB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扩展实现</a:t>
            </a: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｜  测试结果  ｜  总结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640080" y="438912"/>
            <a:ext cx="3207258" cy="320040"/>
          </a:xfrm>
          <a:prstGeom prst="rect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438912"/>
            <a:ext cx="302437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扩展一 · StaticKey 通用化</a:t>
            </a:r>
            <a:endParaRPr lang="en-US" sz="1800" dirty="0"/>
          </a:p>
        </p:txBody>
      </p:sp>
      <p:pic>
        <p:nvPicPr>
          <p:cNvPr id="6" name="Image 1" descr="/root/asterinas-dyn-debug/一些开发资料/pic/5_static_key/static_ke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" y="1051560"/>
            <a:ext cx="7863840" cy="231343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3456432"/>
            <a:ext cx="384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49224" y="3456432"/>
            <a:ext cx="382219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35661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消费者一 · dyndbg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22960" y="38587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tag="dyndbg" 注册站点；描述符 ↔ 站点映射；模块级批量修补委托 enable / disable_static_keys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709160" y="3456432"/>
            <a:ext cx="384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18304" y="3456432"/>
            <a:ext cx="382219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92040" y="35661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消费者二 · sched_trace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892040" y="38587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调度热路径 pick_next_entity：启用态 JMP → 推 {cpu, tsc, task_ptr} 到 per-CPU ring；禁用态 NOP5 </a:t>
            </a:r>
            <a:r>
              <a:rPr lang="en-US" sz="950" dirty="0" err="1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零开销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40080" y="446227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补丁层与使用方解耦</a:t>
            </a:r>
            <a:r>
              <a:rPr lang="en-US" sz="105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sched_trace 无需了解 dyndbg 的任何概念，即可使用同一套“NOP5 槽 + ring buffer”基础设施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asterinas-dyn-debug/演示材料/xm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09728"/>
            <a:ext cx="621792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2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  ｜  系统架构  ｜  系统模块  ｜  </a:t>
            </a:r>
            <a:r>
              <a:rPr lang="en-US" sz="900" b="1" u="sng" dirty="0">
                <a:solidFill>
                  <a:srgbClr val="2563EB"/>
                </a:solidFill>
                <a:uFill>
                  <a:solidFill>
                    <a:srgbClr val="2563EB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扩展实现</a:t>
            </a: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｜  测试结果  ｜  总结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640080" y="438912"/>
            <a:ext cx="5001768" cy="320040"/>
          </a:xfrm>
          <a:prstGeom prst="rect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438912"/>
            <a:ext cx="4818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扩展二 · 基于 NOP5 槽的轻量级 Tracepoint</a:t>
            </a:r>
            <a:endParaRPr lang="en-US" sz="1800" dirty="0"/>
          </a:p>
        </p:txBody>
      </p:sp>
      <p:pic>
        <p:nvPicPr>
          <p:cNvPr id="6" name="Image 1" descr="/root/asterinas-dyn-debug/一些开发资料/pic/6_tracepoint/tracepoint数据通路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11382" y="1051559"/>
            <a:ext cx="7492538" cy="32239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2445" y="4275513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2563EB"/>
                </a:solidFill>
              </a:rPr>
              <a:t>复用既有 NOP5 槽与 SMP 修补事务，不引入新指令槽</a:t>
            </a:r>
            <a:r>
              <a:rPr lang="en-US" sz="1000" dirty="0">
                <a:solidFill>
                  <a:srgbClr val="3A4250"/>
                </a:solidFill>
              </a:rPr>
              <a:t> —— 启用态 JMP 目标块在输出日志的同时，向 per-CPU ring 推送结构化事件（调用点 · TSC · CPU）；该采集能力与 log 相互独立、可单独开启（+trace 规则）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asterinas-dyn-debug/演示材料/xm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09728"/>
            <a:ext cx="621792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2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  ｜  系统架构  ｜  系统模块  ｜  扩展实现  ｜  </a:t>
            </a:r>
            <a:r>
              <a:rPr lang="en-US" sz="900" b="1" u="sng" dirty="0">
                <a:solidFill>
                  <a:srgbClr val="2563EB"/>
                </a:solidFill>
                <a:uFill>
                  <a:solidFill>
                    <a:srgbClr val="2563EB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测试结果</a:t>
            </a: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｜  总结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640080" y="438912"/>
            <a:ext cx="3321558" cy="320040"/>
          </a:xfrm>
          <a:prstGeom prst="rect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438912"/>
            <a:ext cx="313867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测试一 · 热路径禁用态零开销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9875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微基准：10,000,000 次迭代 × 50 轮均值（TSC 计时）｜真实负载：6 种系统调用 × ITERS=1000 × RUNS=20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40080" y="1325880"/>
            <a:ext cx="38862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1463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微基准热路径（单调用点）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3520440" cy="12192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平均耗时 (µs)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相对 baseline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baseline (no-op)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9,386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branch (分支判断)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9,594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+2.2%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static (NOP5禁用态)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9,485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</a:rPr>
                        <a:t>+1.1%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14400" y="3200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1A1D23"/>
                </a:solidFill>
              </a:rPr>
              <a:t>TOST 等价性检验通过</a:t>
            </a:r>
            <a:r>
              <a:rPr lang="en-US" sz="850" dirty="0">
                <a:solidFill>
                  <a:srgbClr val="3A4250"/>
                </a:solidFill>
              </a:rPr>
              <a:t>（δ=0.05 ns/call，p&lt;0.001）—— 与基线统计等价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4617720" y="1325880"/>
            <a:ext cx="38862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892040" y="1463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真实工作负载（6 种系统调用）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92040" y="1874520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A4250"/>
                </a:solidFill>
              </a:rPr>
              <a:t>• 6 种负载（VFS / 管道 / 进程 / 文件描述符）static 与 baseline 差异均 &lt;2.7%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A4250"/>
                </a:solidFill>
              </a:rPr>
              <a:t>• 增量开销与负载复杂度无关 —— 始终是每个调用点的固定 NOP5 成本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A4250"/>
                </a:solidFill>
              </a:rPr>
              <a:t>• TOST 等价性检验 6/6 通过（δ=5% baseline），与基线不可区分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A4250"/>
                </a:solidFill>
              </a:rPr>
              <a:t>结论：禁用态 ~0.95 ns/调用点</a:t>
            </a:r>
            <a:r>
              <a:rPr lang="en-US" sz="1250" b="1" dirty="0">
                <a:solidFill>
                  <a:srgbClr val="16A34A"/>
                </a:solidFill>
              </a:rPr>
              <a:t>，与基线统计等价</a:t>
            </a:r>
            <a:r>
              <a:rPr lang="en-US" sz="1250" dirty="0">
                <a:solidFill>
                  <a:srgbClr val="3A4250"/>
                </a:solidFill>
              </a:rPr>
              <a:t>（TOST，δ=0.05 ns/call）；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3A4250"/>
                </a:solidFill>
              </a:rPr>
              <a:t>6 种真实工作负载差异均 &lt;2.7% —— </a:t>
            </a:r>
            <a:r>
              <a:rPr lang="en-US" sz="1250" b="1" dirty="0" err="1">
                <a:solidFill>
                  <a:srgbClr val="16A34A"/>
                </a:solidFill>
              </a:rPr>
              <a:t>增量在工程上不可感知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asterinas-dyn-debug/演示材料/xm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09728"/>
            <a:ext cx="621792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2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  ｜  系统架构  ｜  系统模块  ｜  扩展实现  ｜  </a:t>
            </a:r>
            <a:r>
              <a:rPr lang="en-US" sz="900" b="1" u="sng" dirty="0">
                <a:solidFill>
                  <a:srgbClr val="2563EB"/>
                </a:solidFill>
                <a:uFill>
                  <a:solidFill>
                    <a:srgbClr val="2563EB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测试结果</a:t>
            </a: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｜  总结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640080" y="438912"/>
            <a:ext cx="2864358" cy="320040"/>
          </a:xfrm>
          <a:prstGeom prst="rect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438912"/>
            <a:ext cx="268147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测试二 · 控制路径与验证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1188720"/>
            <a:ext cx="39319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9224" y="1188720"/>
            <a:ext cx="391363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3167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索引消融与可扩展性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169164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A4250"/>
                </a:solidFill>
              </a:rPr>
              <a:t>283 </a:t>
            </a:r>
            <a:r>
              <a:rPr lang="en-US" sz="1050" dirty="0" err="1">
                <a:solidFill>
                  <a:srgbClr val="3A4250"/>
                </a:solidFill>
              </a:rPr>
              <a:t>描述符下：line</a:t>
            </a:r>
            <a:r>
              <a:rPr lang="en-US" sz="1050" dirty="0">
                <a:solidFill>
                  <a:srgbClr val="3A4250"/>
                </a:solidFill>
              </a:rPr>
              <a:t> 2.82× · file 8.40× · func 4.66× · module 5.60×；N 规模从 283 逐步扩展至 10000，查找加速比线性放大，</a:t>
            </a:r>
            <a:r>
              <a:rPr lang="en-US" sz="1050" b="1" dirty="0">
                <a:solidFill>
                  <a:srgbClr val="2563EB"/>
                </a:solidFill>
              </a:rPr>
              <a:t>验证了索引结构的高效性能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00600" y="1188720"/>
            <a:ext cx="39319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9744" y="1188720"/>
            <a:ext cx="391363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83480" y="13167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状态刷新路径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983480" y="169164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A4250"/>
                </a:solidFill>
              </a:rPr>
              <a:t>随链长规模扩大（1→5000），append 操作刷新路径恒定 ~2µs；del 需全量重放规则链，del 随链长线性增加（17µs → 58ms），</a:t>
            </a:r>
            <a:r>
              <a:rPr lang="en-US" sz="1050" b="1" dirty="0">
                <a:solidFill>
                  <a:srgbClr val="2563EB"/>
                </a:solidFill>
              </a:rPr>
              <a:t>故增量刷新与链长解耦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" y="3200400"/>
            <a:ext cx="7863840" cy="1234440"/>
          </a:xfrm>
          <a:prstGeom prst="rect">
            <a:avLst/>
          </a:prstGeom>
          <a:solidFill>
            <a:srgbClr val="F0F3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10128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050" b="1" dirty="0">
                <a:solidFill>
                  <a:srgbClr val="2563EB"/>
                </a:solidFill>
              </a:rPr>
              <a:t>测试套件与并发验证：</a:t>
            </a:r>
            <a:r>
              <a:rPr lang="en-US" sz="1050" dirty="0">
                <a:solidFill>
                  <a:srgbClr val="3A4250"/>
                </a:solidFill>
              </a:rPr>
              <a:t>52 用例全部通过（功能正确性 · 格式 flags · 三通道匹配 · 鲁棒性 · 状态查看 · 追踪与热点 · 增量等价）—— 覆盖全部规则语义；</a:t>
            </a:r>
            <a:endParaRPr lang="en-US" sz="105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050" dirty="0">
                <a:solidFill>
                  <a:srgbClr val="3A4250"/>
                </a:solidFill>
              </a:rPr>
              <a:t>三类并发压力测试（并发开关 / 高频压力 / 多进程修补风暴）dmesg_hits=0 —— PatchRendezvous 在高压下保持正确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asterinas-dyn-debug/演示材料/xm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09728"/>
            <a:ext cx="621792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2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  ｜  系统架构  ｜  系统模块  ｜  扩展实现  ｜  测试结果  ｜  </a:t>
            </a:r>
            <a:r>
              <a:rPr lang="en-US" sz="900" b="1" u="sng" dirty="0">
                <a:solidFill>
                  <a:srgbClr val="2563EB"/>
                </a:solidFill>
                <a:uFill>
                  <a:solidFill>
                    <a:srgbClr val="2563EB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640080" y="438912"/>
            <a:ext cx="658368" cy="320040"/>
          </a:xfrm>
          <a:prstGeom prst="rect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438912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1005840"/>
            <a:ext cx="531368" cy="256540"/>
          </a:xfrm>
          <a:prstGeom prst="rect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005840"/>
            <a:ext cx="348488" cy="238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1371600"/>
            <a:ext cx="25146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9224" y="1371600"/>
            <a:ext cx="249631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1371600"/>
            <a:ext cx="45720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144475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 </a:t>
            </a:r>
            <a:r>
              <a:rPr lang="en-US" sz="12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编译期预埋到运行时修补的 Rust 原生方案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084832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 err="1">
                <a:solidFill>
                  <a:srgbClr val="3A4250"/>
                </a:solidFill>
              </a:rPr>
              <a:t>PatchRendezvous</a:t>
            </a:r>
            <a:r>
              <a:rPr lang="en-US" sz="950" dirty="0">
                <a:solidFill>
                  <a:srgbClr val="3A4250"/>
                </a:solidFill>
              </a:rPr>
              <a:t> IPI 集结协议替代 INT3 断点法；模块级 0↔1 翻转门控；unsafe 严格限定 3 个底层模块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37560" y="1371600"/>
            <a:ext cx="25146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46704" y="1371600"/>
            <a:ext cx="249631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37560" y="1371600"/>
            <a:ext cx="45720" cy="1783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74720" y="144475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 </a:t>
            </a:r>
            <a:r>
              <a:rPr lang="en-US" sz="12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索引驱动的两阶段增量重算管线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74720" y="2084832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250"/>
                </a:solidFill>
              </a:rPr>
              <a:t>Linux 单次 O(n) 全量遍历，重构为三通道索引收集候选与增量重算的两阶段管线；append高频操作上应用增量刷新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035040" y="1371600"/>
            <a:ext cx="25146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44184" y="1371600"/>
            <a:ext cx="2496312" cy="36576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35040" y="1371600"/>
            <a:ext cx="45720" cy="178308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72200" y="144475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B2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 </a:t>
            </a:r>
            <a:r>
              <a:rPr lang="en-US" sz="12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last-match-wins 规则链语义模型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72200" y="2084832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250"/>
                </a:solidFill>
              </a:rPr>
              <a:t>last-match-wins </a:t>
            </a:r>
            <a:r>
              <a:rPr lang="en-US" sz="950" dirty="0" err="1">
                <a:solidFill>
                  <a:srgbClr val="3A4250"/>
                </a:solidFill>
              </a:rPr>
              <a:t>冲突裁决，追加即覆盖运行中动态增删规则与全量状态查看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40080" y="3227832"/>
            <a:ext cx="1356868" cy="256540"/>
          </a:xfrm>
          <a:prstGeom prst="rect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3227832"/>
            <a:ext cx="1173988" cy="238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扩展与增量工作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250"/>
                </a:solidFill>
              </a:rPr>
              <a:t>StaticKey 通用化（提供调度器范例）· NOP5 Tracepoint（per-CPU ring 事件追踪 · 丢失统计 · 热点 top-10）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solidFill>
            <a:srgbClr val="EEF0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2960" y="406908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000" b="1" dirty="0">
                <a:solidFill>
                  <a:srgbClr val="2563EB"/>
                </a:solidFill>
              </a:rPr>
              <a:t>原创声明：</a:t>
            </a:r>
            <a:r>
              <a:rPr lang="en-US" sz="1000" dirty="0">
                <a:solidFill>
                  <a:srgbClr val="3A4250"/>
                </a:solidFill>
              </a:rPr>
              <a:t>本项目仅借鉴 Linux dynamic debug 的规则语义模型，其余系统架构、SMP 修补协议、过滤引擎与扩展机制均为自主设计实现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asterinas-dyn-debug/演示材料/xm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09728"/>
            <a:ext cx="621792" cy="62179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074920"/>
            <a:ext cx="304797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047970" y="5074920"/>
            <a:ext cx="304797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95939" y="5074920"/>
            <a:ext cx="3047970" cy="6400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2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敬请各位老师批评指正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600" dirty="0">
                <a:solidFill>
                  <a:srgbClr val="3A4250"/>
                </a:solidFill>
              </a:rPr>
              <a:t>面向 Rust OS 的高效动态调试机制</a:t>
            </a:r>
            <a:endParaRPr lang="en-US" sz="16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600" dirty="0">
                <a:solidFill>
                  <a:srgbClr val="3A4250"/>
                </a:solidFill>
              </a:rPr>
              <a:t>—— 基于 Asterinas 的设计与实现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97280" y="3749040"/>
            <a:ext cx="1371600" cy="292608"/>
          </a:xfrm>
          <a:prstGeom prst="rect">
            <a:avLst/>
          </a:prstGeom>
          <a:solidFill>
            <a:srgbClr val="EEF0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3749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队伍：儒雅的读书人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14600" y="3749040"/>
            <a:ext cx="1371600" cy="292608"/>
          </a:xfrm>
          <a:prstGeom prst="rect">
            <a:avLst/>
          </a:prstGeom>
          <a:solidFill>
            <a:srgbClr val="F0F3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14600" y="3749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成员：林辉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931920" y="3749040"/>
            <a:ext cx="1371600" cy="292608"/>
          </a:xfrm>
          <a:prstGeom prst="rect">
            <a:avLst/>
          </a:prstGeom>
          <a:solidFill>
            <a:srgbClr val="F0F3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31920" y="3749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指导老师：郑炜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349240" y="3749040"/>
            <a:ext cx="1371600" cy="292608"/>
          </a:xfrm>
          <a:prstGeom prst="rect">
            <a:avLst/>
          </a:prstGeom>
          <a:solidFill>
            <a:srgbClr val="F0F3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49240" y="3749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学校：厦门大学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766560" y="3749040"/>
            <a:ext cx="1371600" cy="292608"/>
          </a:xfrm>
          <a:prstGeom prst="rect">
            <a:avLst/>
          </a:prstGeom>
          <a:solidFill>
            <a:srgbClr val="F0F3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66560" y="3749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赛题：proj10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921</Words>
  <Application>Microsoft Office PowerPoint</Application>
  <PresentationFormat>全屏显示(16:9)</PresentationFormat>
  <Paragraphs>177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 Rust OS 的高效动态调试机制 — 技术汇报</dc:title>
  <dc:subject>PptxGenJS Presentation</dc:subject>
  <dc:creator>林辉</dc:creator>
  <cp:lastModifiedBy>H L</cp:lastModifiedBy>
  <cp:revision>5</cp:revision>
  <dcterms:created xsi:type="dcterms:W3CDTF">2026-08-17T17:24:56Z</dcterms:created>
  <dcterms:modified xsi:type="dcterms:W3CDTF">2026-08-17T18:36:35Z</dcterms:modified>
</cp:coreProperties>
</file>